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7bc50e34dc4f71" /><Relationship Type="http://schemas.openxmlformats.org/officeDocument/2006/relationships/extended-properties" Target="/docProps/app.xml" Id="R09462aa350b54278" /><Relationship Type="http://schemas.openxmlformats.org/officeDocument/2006/relationships/officeDocument" Target="/ppt/presentation.xml" Id="R1a114fa7091842f5" /></Relationships>
</file>

<file path=ppt/presentation.xml><?xml version="1.0" encoding="utf-8"?>
<p:presentation xmlns:p="http://schemas.openxmlformats.org/presentationml/2006/main">
  <p:sldMasterIdLst>
    <p:sldMasterId xmlns:r="http://schemas.openxmlformats.org/officeDocument/2006/relationships" id="2147483648" r:id="R41b542010b5d4243"/>
  </p:sldMasterIdLst>
  <p:notesMasterIdLst>
    <p:notesMasterId xmlns:r="http://schemas.openxmlformats.org/officeDocument/2006/relationships" r:id="R573f3c7931dd4116"/>
  </p:notesMasterIdLst>
  <p:sldIdLst>
    <p:sldId xmlns:r="http://schemas.openxmlformats.org/officeDocument/2006/relationships" id="256" r:id="Rde42664bd4ec4ed7"/>
    <p:sldId xmlns:r="http://schemas.openxmlformats.org/officeDocument/2006/relationships" id="257" r:id="R0965ce02a7c54610"/>
    <p:sldId xmlns:r="http://schemas.openxmlformats.org/officeDocument/2006/relationships" id="258" r:id="Rd63eab7189af46d7"/>
    <p:sldId xmlns:r="http://schemas.openxmlformats.org/officeDocument/2006/relationships" id="259" r:id="R4f9403d09d7047a3"/>
    <p:sldId xmlns:r="http://schemas.openxmlformats.org/officeDocument/2006/relationships" id="260" r:id="R2e5dc402fd354744"/>
    <p:sldId xmlns:r="http://schemas.openxmlformats.org/officeDocument/2006/relationships" id="261" r:id="R63e48e0c2e8543cf"/>
    <p:sldId xmlns:r="http://schemas.openxmlformats.org/officeDocument/2006/relationships" id="262" r:id="Reaa99b72ffe1463a"/>
    <p:sldId xmlns:r="http://schemas.openxmlformats.org/officeDocument/2006/relationships" id="263" r:id="Rda74fa298393455a"/>
    <p:sldId xmlns:r="http://schemas.openxmlformats.org/officeDocument/2006/relationships" id="264" r:id="R88618ca951c74e68"/>
    <p:sldId xmlns:r="http://schemas.openxmlformats.org/officeDocument/2006/relationships" id="265" r:id="Rab8f320981204cd5"/>
    <p:sldId xmlns:r="http://schemas.openxmlformats.org/officeDocument/2006/relationships" id="266" r:id="R5a6bebc8ca294515"/>
    <p:sldId xmlns:r="http://schemas.openxmlformats.org/officeDocument/2006/relationships" id="267" r:id="R595f33838bf94a99"/>
    <p:sldId xmlns:r="http://schemas.openxmlformats.org/officeDocument/2006/relationships" id="268" r:id="Rc84571dde4224eb0"/>
    <p:sldId xmlns:r="http://schemas.openxmlformats.org/officeDocument/2006/relationships" id="269" r:id="R2f24df7574384f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10f615b49848f3" /><Relationship Type="http://schemas.openxmlformats.org/officeDocument/2006/relationships/slideMaster" Target="/ppt/slideMasters/slideMaster1.xml" Id="R41b542010b5d4243" /><Relationship Type="http://schemas.openxmlformats.org/officeDocument/2006/relationships/notesMaster" Target="/ppt/notesMasters/notesMaster1.xml" Id="R573f3c7931dd4116" /><Relationship Type="http://schemas.openxmlformats.org/officeDocument/2006/relationships/presProps" Target="/ppt/presProps.xml" Id="Ra2492197eb564e70" /><Relationship Type="http://schemas.openxmlformats.org/officeDocument/2006/relationships/tableStyles" Target="/ppt/tableStyles.xml" Id="R9cbf0d6d1b914dec" /><Relationship Type="http://schemas.openxmlformats.org/officeDocument/2006/relationships/slide" Target="/ppt/slides/slide1.xml" Id="Rde42664bd4ec4ed7" /><Relationship Type="http://schemas.openxmlformats.org/officeDocument/2006/relationships/slide" Target="/ppt/slides/slide2.xml" Id="R0965ce02a7c54610" /><Relationship Type="http://schemas.openxmlformats.org/officeDocument/2006/relationships/slide" Target="/ppt/slides/slide3.xml" Id="Rd63eab7189af46d7" /><Relationship Type="http://schemas.openxmlformats.org/officeDocument/2006/relationships/slide" Target="/ppt/slides/slide4.xml" Id="R4f9403d09d7047a3" /><Relationship Type="http://schemas.openxmlformats.org/officeDocument/2006/relationships/slide" Target="/ppt/slides/slide5.xml" Id="R2e5dc402fd354744" /><Relationship Type="http://schemas.openxmlformats.org/officeDocument/2006/relationships/slide" Target="/ppt/slides/slide6.xml" Id="R63e48e0c2e8543cf" /><Relationship Type="http://schemas.openxmlformats.org/officeDocument/2006/relationships/slide" Target="/ppt/slides/slide7.xml" Id="Reaa99b72ffe1463a" /><Relationship Type="http://schemas.openxmlformats.org/officeDocument/2006/relationships/slide" Target="/ppt/slides/slide8.xml" Id="Rda74fa298393455a" /><Relationship Type="http://schemas.openxmlformats.org/officeDocument/2006/relationships/slide" Target="/ppt/slides/slide9.xml" Id="R88618ca951c74e68" /><Relationship Type="http://schemas.openxmlformats.org/officeDocument/2006/relationships/slide" Target="/ppt/slides/slide10.xml" Id="Rab8f320981204cd5" /><Relationship Type="http://schemas.openxmlformats.org/officeDocument/2006/relationships/slide" Target="/ppt/slides/slide11.xml" Id="R5a6bebc8ca294515" /><Relationship Type="http://schemas.openxmlformats.org/officeDocument/2006/relationships/slide" Target="/ppt/slides/slide12.xml" Id="R595f33838bf94a99" /><Relationship Type="http://schemas.openxmlformats.org/officeDocument/2006/relationships/slide" Target="/ppt/slides/slide13.xml" Id="Rc84571dde4224eb0" /><Relationship Type="http://schemas.openxmlformats.org/officeDocument/2006/relationships/slide" Target="/ppt/slides/slide14.xml" Id="R2f24df7574384f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002ae74d7d41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4156796ff14adf" /><Relationship Type="http://schemas.openxmlformats.org/officeDocument/2006/relationships/notesMaster" Target="/ppt/notesMasters/notesMaster1.xml" Id="R68ef92963f5e41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e55fbb8d29452e" /><Relationship Type="http://schemas.openxmlformats.org/officeDocument/2006/relationships/notesMaster" Target="/ppt/notesMasters/notesMaster1.xml" Id="Reb24e0628e1441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b8e5661cdf477f" /><Relationship Type="http://schemas.openxmlformats.org/officeDocument/2006/relationships/notesMaster" Target="/ppt/notesMasters/notesMaster1.xml" Id="R52e41b6b7c964e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364724fbb7446e" /><Relationship Type="http://schemas.openxmlformats.org/officeDocument/2006/relationships/notesMaster" Target="/ppt/notesMasters/notesMaster1.xml" Id="R431c832c9b3342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f0803aa5e749e4" /><Relationship Type="http://schemas.openxmlformats.org/officeDocument/2006/relationships/notesMaster" Target="/ppt/notesMasters/notesMaster1.xml" Id="Rf40688f97ffd4b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64f8a399d54a95" /><Relationship Type="http://schemas.openxmlformats.org/officeDocument/2006/relationships/notesMaster" Target="/ppt/notesMasters/notesMaster1.xml" Id="Re7572b05a61e40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c9eb2584ba42d8" /><Relationship Type="http://schemas.openxmlformats.org/officeDocument/2006/relationships/notesMaster" Target="/ppt/notesMasters/notesMaster1.xml" Id="Rca62539c741c4d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db886c99114d64" /><Relationship Type="http://schemas.openxmlformats.org/officeDocument/2006/relationships/notesMaster" Target="/ppt/notesMasters/notesMaster1.xml" Id="Rcc0ced4f856545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ae23d7745e457c" /><Relationship Type="http://schemas.openxmlformats.org/officeDocument/2006/relationships/notesMaster" Target="/ppt/notesMasters/notesMaster1.xml" Id="Rd98fb9285b824c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9ed7724a68453e" /><Relationship Type="http://schemas.openxmlformats.org/officeDocument/2006/relationships/notesMaster" Target="/ppt/notesMasters/notesMaster1.xml" Id="R07032971100444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fcfda35da5490a" /><Relationship Type="http://schemas.openxmlformats.org/officeDocument/2006/relationships/notesMaster" Target="/ppt/notesMasters/notesMaster1.xml" Id="Rc13de1e06d3243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09f2cfbd11447e" /><Relationship Type="http://schemas.openxmlformats.org/officeDocument/2006/relationships/notesMaster" Target="/ppt/notesMasters/notesMaster1.xml" Id="R3ffe7fab568948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d2b8f0171146e8" /><Relationship Type="http://schemas.openxmlformats.org/officeDocument/2006/relationships/notesMaster" Target="/ppt/notesMasters/notesMaster1.xml" Id="R552d50d1035941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d8a94baa7549a0" /><Relationship Type="http://schemas.openxmlformats.org/officeDocument/2006/relationships/notesMaster" Target="/ppt/notesMasters/notesMaster1.xml" Id="R2526d3f2e116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ProjectPulse is a local academic project planning application. Introduce the project as a way to turn task lists into a dependency-aware schedule and a compact progress summary. Sources: README.md and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task list alone does not show dependency order, working-time constraints, or the effect of changing duration. These are the design motivations, not findings from a user study. Source: README.md, 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Organizations own workspaces, which contain projects. Membership in the organization defines access. Owner and admin can manage workspaces and members subject to owner restrictions. Editors manage planning data. Viewers read project information and export ICS. Source: docs/api-conventions.md.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and TypeScript call the Flask JSON API under /api/v1. SQLAlchemy persists inputs in SQLite and Alembic manages schema history. The service layer computes schedules and summaries on demand. There is no background worker or analytics cache. Sources: docs/architecture.md, requirements.txt, 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local sample project captured 27 October 2026. Top navigation selects the organization, workspace, and project. Tasks is the default view. Timeline shows scheduling. Settings holds project metadata and working hours. Source: frontend/src/pages/WorkspacePage.tsx.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a task row to open its details. Status and progress are separate inputs. Only completed status contributes to project completion. Zero duration represents a milestone. Viewers receive read-only details. Failed saves preserve the draft. Screenshot: current application. Source: frontend/src/components/PlanningForms.tsx and WorkspacePage.tsx.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FS means the successor starts after the predecessor finishes, plus lag. SS constrains starts, FF constrains finishes, and SF constrains successor finish relative to predecessor start. Lag uses working minutes and can be negative. Validation rejects cycles and invalid links. Source: docs/scheduling-assumptions.md.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Gantt screenshot from the Northstar Coffee sample. It calculates a finish of 4 November 2026 against a target of 6 November. The target allows positive float in this example, so the screenshot need not contain red critical bars. Red identifies zero-float tasks when present. The chart is read-only. Change inputs in Tasks or Settings, then use Recalculate. Sources: app screenshot, docs/scheduling-assumptions.md.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settings include project name, status, start date, target finish, and working calendar. The sample uses Asia/Kolkata, Monday to Friday, 09:00 to 17:00. Calendar time excludes nonworking hours. The UI edits one interval per day and preserves existing exceptions. Screenshot: current application. Source: docs/scheduling-assumptions.md.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data snapshot from the local database on 27 October 2026. pandas constructs a task DataFrame and aggregates every supported status. NumPy excludes the two zero-duration milestones and computes mean 615, median 480, and 90th percentile 960 working minutes over 16 positive-duration tasks. Completion is 4/18*100 = 22.22%. These duration statistics describe individual tasks, not project elapsed time. Source: backend/app/services/summary.py and current sample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fictional demonstration data, not an actual client engagement. Northstar Coffee Website Launch has 18 tasks, 23 FS dependencies, 2 milestones, 4 completed, 2 in progress, 1 blocked, and 11 not started. Open the sample, inspect tasks, open High fidelity interface design, then Timeline and Settings. Start 19 October 2026, calculated finish 4 November, target 6 November. Sources: current local sample records and application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project reads and changes enforce organization membership and roles on the server. Session mutations require CSRF. Project and calendar edits use version checks to reject stale saves. Feature cleanup retains migrations, legacy tables and minimal ORM mappings for existing records. Explicit user deletion still follows normal cascade semantics. Source: docs/architecture.md and docs/api-conventions.md.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verification on 27 October 2026: 101 backend tests and 61 frontend tests passed, along with the production build and disposable-database migration checks. Browser checks covered responsive layouts, light/dark appearance, dialogs, errors and summary refresh. These are engineering checks, not a human user study or production certification. Source: 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running application for a demonstration. The project combines working-calendar scheduling and compact analytics in a simpler interface. Show how one task change updates the task summary and schedule. Possible future improvements should be treated as proposals, not implemented features. Sources: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a23cc8e53f4d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2e98509c7f4c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335459d90347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2b870dfb46140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a6e8b2c30642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15394f786948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CD3C5-A511-452A-9620-F8E1A06454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6F8BF5-AC95-47EF-95D6-D6E8AB93EA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D6DEE8-8DF8-4BC7-A8BA-D1DFE55DFA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FE7269-DD91-4E9C-A4B6-2D93EA0AFA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AD5DF3-A678-48E2-8929-0CF69DDE32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5FF7DD-3020-4DD1-BC45-4FBF980C09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36E202-6BF4-40EA-A0B5-A6909D82BE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02F85C9-E9D8-4A3D-8B8E-BA8A52C7DD3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6D6C99-40E3-4DD1-85F5-0717D1DA60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A261BD-BF50-45BD-84CD-5B3236E2F4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00423501304323" /><Relationship Type="http://schemas.openxmlformats.org/officeDocument/2006/relationships/slideLayout" Target="/ppt/slideLayouts/slideLayout1.xml" Id="R9fd0a36e1e854d50" /><Relationship Type="http://schemas.openxmlformats.org/officeDocument/2006/relationships/slideLayout" Target="/ppt/slideLayouts/slideLayout2.xml" Id="R5bc5cd87aae74a80" /><Relationship Type="http://schemas.openxmlformats.org/officeDocument/2006/relationships/slideLayout" Target="/ppt/slideLayouts/slideLayout3.xml" Id="R55878d49a6a4483e" /><Relationship Type="http://schemas.openxmlformats.org/officeDocument/2006/relationships/slideLayout" Target="/ppt/slideLayouts/slideLayout4.xml" Id="R19c7acfededb4f9a" /><Relationship Type="http://schemas.openxmlformats.org/officeDocument/2006/relationships/slideLayout" Target="/ppt/slideLayouts/slideLayout5.xml" Id="Rf8f8cd53db3c44bf" /><Relationship Type="http://schemas.openxmlformats.org/officeDocument/2006/relationships/slideLayout" Target="/ppt/slideLayouts/slideLayout6.xml" Id="R1fd4d74312e24a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d0a36e1e854d50"/>
    <p:sldLayoutId xmlns:r="http://schemas.openxmlformats.org/officeDocument/2006/relationships" id="2147483650" r:id="R5bc5cd87aae74a80"/>
    <p:sldLayoutId xmlns:r="http://schemas.openxmlformats.org/officeDocument/2006/relationships" id="2147483651" r:id="R55878d49a6a4483e"/>
    <p:sldLayoutId xmlns:r="http://schemas.openxmlformats.org/officeDocument/2006/relationships" id="2147483652" r:id="R19c7acfededb4f9a"/>
    <p:sldLayoutId xmlns:r="http://schemas.openxmlformats.org/officeDocument/2006/relationships" id="2147483653" r:id="Rf8f8cd53db3c44bf"/>
    <p:sldLayoutId xmlns:r="http://schemas.openxmlformats.org/officeDocument/2006/relationships" id="2147483654" r:id="R1fd4d74312e24a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0d0b219c6445d2" /><Relationship Type="http://schemas.openxmlformats.org/officeDocument/2006/relationships/notesSlide" Target="/ppt/notesSlides/notesSlide1.xml" Id="R2e0fed6a8bbc41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229c74fc4c4326" /><Relationship Type="http://schemas.openxmlformats.org/officeDocument/2006/relationships/notesSlide" Target="/ppt/notesSlides/notesSlide2.xml" Id="Rf02c4e05034040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7fca29ddde439d" /><Relationship Type="http://schemas.openxmlformats.org/officeDocument/2006/relationships/notesSlide" Target="/ppt/notesSlides/notesSlide3.xml" Id="R1ffa4336326146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66651933fa4a3e" /><Relationship Type="http://schemas.openxmlformats.org/officeDocument/2006/relationships/notesSlide" Target="/ppt/notesSlides/notesSlide4.xml" Id="Re885fa1fb80b4b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5c5c2e2fdf4bba" /><Relationship Type="http://schemas.openxmlformats.org/officeDocument/2006/relationships/image" Target="/ppt/media/image.png" Id="Rfcc8cb04eb9f479c" /><Relationship Type="http://schemas.openxmlformats.org/officeDocument/2006/relationships/notesSlide" Target="/ppt/notesSlides/notesSlide5.xml" Id="R8c37f779c8a340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0e8cfb4c864ffb" /><Relationship Type="http://schemas.openxmlformats.org/officeDocument/2006/relationships/image" Target="/ppt/media/image2.png" Id="R5485462b4e8242d0" /><Relationship Type="http://schemas.openxmlformats.org/officeDocument/2006/relationships/notesSlide" Target="/ppt/notesSlides/notesSlide6.xml" Id="Rc1bc4f5d2ea44f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dd8e679f054943" /><Relationship Type="http://schemas.openxmlformats.org/officeDocument/2006/relationships/notesSlide" Target="/ppt/notesSlides/notesSlide7.xml" Id="R7a70776a8a1044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8b2402614f04474" /><Relationship Type="http://schemas.openxmlformats.org/officeDocument/2006/relationships/image" Target="/ppt/media/image3.png" Id="R4c932622ea77456c" /><Relationship Type="http://schemas.openxmlformats.org/officeDocument/2006/relationships/notesSlide" Target="/ppt/notesSlides/notesSlide8.xml" Id="Ra071f392a0c345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e7b1e9d8294448" /><Relationship Type="http://schemas.openxmlformats.org/officeDocument/2006/relationships/image" Target="/ppt/media/image4.png" Id="Rf6380cbdbe554ec0" /><Relationship Type="http://schemas.openxmlformats.org/officeDocument/2006/relationships/notesSlide" Target="/ppt/notesSlides/notesSlide9.xml" Id="Rb346eb433aba4c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926946c3f443a9" /><Relationship Type="http://schemas.openxmlformats.org/officeDocument/2006/relationships/chart" Target="/ppt/slides/charts/chart1.xml" Id="R40849c11f7af4ccb" /><Relationship Type="http://schemas.openxmlformats.org/officeDocument/2006/relationships/notesSlide" Target="/ppt/notesSlides/notesSlide10.xml" Id="R85d8d1e968414f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208f3cd4c7c4176" /><Relationship Type="http://schemas.openxmlformats.org/officeDocument/2006/relationships/notesSlide" Target="/ppt/notesSlides/notesSlide11.xml" Id="R1b0febb029ab49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f6b66884c0b49a2" /><Relationship Type="http://schemas.openxmlformats.org/officeDocument/2006/relationships/notesSlide" Target="/ppt/notesSlides/notesSlide12.xml" Id="R463502a9324c4b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e85d873f07f404f" /><Relationship Type="http://schemas.openxmlformats.org/officeDocument/2006/relationships/notesSlide" Target="/ppt/notesSlides/notesSlide13.xml" Id="Rc1aada0578344f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9a5eee0140348f5" /><Relationship Type="http://schemas.openxmlformats.org/officeDocument/2006/relationships/notesSlide" Target="/ppt/notesSlides/notesSlide14.xml" Id="R2bdbd02b247e4902" /></Relationships>
</file>

<file path=ppt/slides/charts/chart1.xml><?xml version="1.0" encoding="utf-8"?>
<c:chartSpace xmlns:c="http://schemas.openxmlformats.org/drawingml/2006/chart">
  <c:lang val="en-US"/>
  <c:chart>
    <c:plotArea>
      <c:barChart>
        <c:barDir val="col"/>
        <c:varyColors val="0"/>
        <c:ser>
          <c:idx val="0"/>
          <c:order val="0"/>
          <c:tx>
            <c:v>Tasks</c:v>
          </c:tx>
          <c:spPr>
            <a:solidFill xmlns:a="http://schemas.openxmlformats.org/drawingml/2006/main">
              <a:srgbClr val="006EDB"/>
            </a:solidFill>
          </c:spPr>
          <c:invertIfNegative val="0"/>
          <c:cat>
            <c:strLit>
              <c:ptCount val="4"/>
              <c:pt idx="0">
                <c:v>Not started</c:v>
              </c:pt>
              <c:pt idx="1">
                <c:v>In progress</c:v>
              </c:pt>
              <c:pt idx="2">
                <c:v>Blocked</c:v>
              </c:pt>
              <c:pt idx="3">
                <c:v>Completed</c:v>
              </c:pt>
            </c:strLit>
          </c:cat>
          <c:val>
            <c:numLit>
              <c:formatCode>General</c:formatCode>
              <c:ptCount val="4"/>
              <c:pt idx="0">
                <c:v>11</c:v>
              </c:pt>
              <c:pt idx="1">
                <c:v>2</c:v>
              </c:pt>
              <c:pt idx="2">
                <c:v>1</c:v>
              </c:pt>
              <c:pt idx="3">
                <c:v>4</c:v>
              </c:pt>
            </c:numLit>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F3A2E5F-34E8-4D56-ACBF-4F3AE954ADC7}"/>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FC9D6"/>
                </a:solidFill>
                <a:latin typeface="Arial"/>
                <a:ea typeface="Arial"/>
                <a:cs typeface="Arial"/>
              </a:defRPr>
            </a:defPPr>
            <a:lvl1pPr>
              <a:defRPr sz="1200" b="0">
                <a:solidFill>
                  <a:srgbClr val="BFC9D6"/>
                </a:solidFill>
                <a:latin typeface="Arial"/>
                <a:ea typeface="Arial"/>
                <a:cs typeface="Arial"/>
              </a:defRPr>
            </a:lvl1pPr>
            <a:lvl2pPr>
              <a:defRPr sz="1200" b="0">
                <a:solidFill>
                  <a:srgbClr val="BFC9D6"/>
                </a:solidFill>
                <a:latin typeface="Arial"/>
                <a:ea typeface="Arial"/>
                <a:cs typeface="Arial"/>
              </a:defRPr>
            </a:lvl2pPr>
            <a:lvl3pPr>
              <a:defRPr sz="1200" b="0">
                <a:solidFill>
                  <a:srgbClr val="BFC9D6"/>
                </a:solidFill>
                <a:latin typeface="Arial"/>
                <a:ea typeface="Arial"/>
                <a:cs typeface="Arial"/>
              </a:defRPr>
            </a:lvl3pPr>
            <a:lvl4pPr>
              <a:defRPr sz="1200" b="0">
                <a:solidFill>
                  <a:srgbClr val="BFC9D6"/>
                </a:solidFill>
                <a:latin typeface="Arial"/>
                <a:ea typeface="Arial"/>
                <a:cs typeface="Arial"/>
              </a:defRPr>
            </a:lvl4pPr>
            <a:lvl5pPr>
              <a:defRPr sz="1200" b="0">
                <a:solidFill>
                  <a:srgbClr val="BFC9D6"/>
                </a:solidFill>
                <a:latin typeface="Arial"/>
                <a:ea typeface="Arial"/>
                <a:cs typeface="Arial"/>
              </a:defRPr>
            </a:lvl5pPr>
            <a:lvl6pPr>
              <a:defRPr sz="1200" b="0">
                <a:solidFill>
                  <a:srgbClr val="BFC9D6"/>
                </a:solidFill>
                <a:latin typeface="Arial"/>
                <a:ea typeface="Arial"/>
                <a:cs typeface="Arial"/>
              </a:defRPr>
            </a:lvl6pPr>
            <a:lvl7pPr>
              <a:defRPr sz="1200" b="0">
                <a:solidFill>
                  <a:srgbClr val="BFC9D6"/>
                </a:solidFill>
                <a:latin typeface="Arial"/>
                <a:ea typeface="Arial"/>
                <a:cs typeface="Arial"/>
              </a:defRPr>
            </a:lvl7pPr>
            <a:lvl8pPr>
              <a:defRPr sz="1200" b="0">
                <a:solidFill>
                  <a:srgbClr val="BFC9D6"/>
                </a:solidFill>
                <a:latin typeface="Arial"/>
                <a:ea typeface="Arial"/>
                <a:cs typeface="Arial"/>
              </a:defRPr>
            </a:lvl8pPr>
            <a:lvl9pPr>
              <a:defRPr sz="1200" b="0">
                <a:solidFill>
                  <a:srgbClr val="BFC9D6"/>
                </a:solidFill>
                <a:latin typeface="Arial"/>
                <a:ea typeface="Arial"/>
                <a:cs typeface="Arial"/>
              </a:defRPr>
            </a:lvl9pPr>
          </a:lstStyle>
          <a:p xmlns:a="http://schemas.openxmlformats.org/drawingml/2006/main">
            <a:pPr>
              <a:defRPr sz="1200" b="0">
                <a:solidFill>
                  <a:srgbClr val="BFC9D6"/>
                </a:solidFill>
                <a:latin typeface="Arial"/>
                <a:ea typeface="Arial"/>
                <a:cs typeface="Arial"/>
              </a:defRPr>
            </a:pPr>
            <a:r>
              <a:rPr sz="1200" b="0">
                <a:solidFill>
                  <a:srgbClr val="BFC9D6"/>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A2D7C99-2FD7-4049-A3F5-3A0C15B477C4}"/>
              </a:ext>
            </a:extLst>
          </p:cNvPr>
          <p:cNvSpPr>
            <a:spLocks xmlns:a="http://schemas.openxmlformats.org/drawingml/2006/main" noGrp="1"/>
          </p:cNvSpPr>
          <p:nvPr/>
        </p:nvSpPr>
        <p:spPr>
          <a:xfrm xmlns:a="http://schemas.openxmlformats.org/drawingml/2006/main">
            <a:off x="609600" y="195262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1">
                <a:solidFill>
                  <a:srgbClr val="FFFFFF"/>
                </a:solidFill>
                <a:latin typeface="Arial"/>
                <a:ea typeface="Arial"/>
                <a:cs typeface="Arial"/>
              </a:defRPr>
            </a:defPPr>
            <a:lvl1pPr>
              <a:defRPr sz="6450" b="1">
                <a:solidFill>
                  <a:srgbClr val="FFFFFF"/>
                </a:solidFill>
                <a:latin typeface="Arial"/>
                <a:ea typeface="Arial"/>
                <a:cs typeface="Arial"/>
              </a:defRPr>
            </a:lvl1pPr>
            <a:lvl2pPr>
              <a:defRPr sz="6450" b="1">
                <a:solidFill>
                  <a:srgbClr val="FFFFFF"/>
                </a:solidFill>
                <a:latin typeface="Arial"/>
                <a:ea typeface="Arial"/>
                <a:cs typeface="Arial"/>
              </a:defRPr>
            </a:lvl2pPr>
            <a:lvl3pPr>
              <a:defRPr sz="6450" b="1">
                <a:solidFill>
                  <a:srgbClr val="FFFFFF"/>
                </a:solidFill>
                <a:latin typeface="Arial"/>
                <a:ea typeface="Arial"/>
                <a:cs typeface="Arial"/>
              </a:defRPr>
            </a:lvl3pPr>
            <a:lvl4pPr>
              <a:defRPr sz="6450" b="1">
                <a:solidFill>
                  <a:srgbClr val="FFFFFF"/>
                </a:solidFill>
                <a:latin typeface="Arial"/>
                <a:ea typeface="Arial"/>
                <a:cs typeface="Arial"/>
              </a:defRPr>
            </a:lvl4pPr>
            <a:lvl5pPr>
              <a:defRPr sz="6450" b="1">
                <a:solidFill>
                  <a:srgbClr val="FFFFFF"/>
                </a:solidFill>
                <a:latin typeface="Arial"/>
                <a:ea typeface="Arial"/>
                <a:cs typeface="Arial"/>
              </a:defRPr>
            </a:lvl5pPr>
            <a:lvl6pPr>
              <a:defRPr sz="6450" b="1">
                <a:solidFill>
                  <a:srgbClr val="FFFFFF"/>
                </a:solidFill>
                <a:latin typeface="Arial"/>
                <a:ea typeface="Arial"/>
                <a:cs typeface="Arial"/>
              </a:defRPr>
            </a:lvl6pPr>
            <a:lvl7pPr>
              <a:defRPr sz="6450" b="1">
                <a:solidFill>
                  <a:srgbClr val="FFFFFF"/>
                </a:solidFill>
                <a:latin typeface="Arial"/>
                <a:ea typeface="Arial"/>
                <a:cs typeface="Arial"/>
              </a:defRPr>
            </a:lvl7pPr>
            <a:lvl8pPr>
              <a:defRPr sz="6450" b="1">
                <a:solidFill>
                  <a:srgbClr val="FFFFFF"/>
                </a:solidFill>
                <a:latin typeface="Arial"/>
                <a:ea typeface="Arial"/>
                <a:cs typeface="Arial"/>
              </a:defRPr>
            </a:lvl8pPr>
            <a:lvl9pPr>
              <a:defRPr sz="6450" b="1">
                <a:solidFill>
                  <a:srgbClr val="FFFFFF"/>
                </a:solidFill>
                <a:latin typeface="Arial"/>
                <a:ea typeface="Arial"/>
                <a:cs typeface="Arial"/>
              </a:defRPr>
            </a:lvl9pPr>
          </a:lstStyle>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ProjectPulse</a:t>
            </a:r>
          </a:p>
        </p:txBody>
      </p:sp>
      <p:sp>
        <p:nvSpPr>
          <p:cNvPr id="4" name="">
            <a:extLst xmlns:a="http://schemas.openxmlformats.org/drawingml/2006/main">
              <a:ext uri="{FF2B5EF4-FFF2-40B4-BE49-F238E27FC236}">
                <a16:creationId xmlns:a16="http://schemas.microsoft.com/office/drawing/2014/main" id="{CC493722-89EF-4049-83FB-880A17214457}"/>
              </a:ext>
            </a:extLst>
          </p:cNvPr>
          <p:cNvSpPr>
            <a:spLocks xmlns:a="http://schemas.openxmlformats.org/drawingml/2006/main" noGrp="1"/>
          </p:cNvSpPr>
          <p:nvPr/>
        </p:nvSpPr>
        <p:spPr>
          <a:xfrm xmlns:a="http://schemas.openxmlformats.org/drawingml/2006/main">
            <a:off x="647700" y="3190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DCE6F3"/>
                </a:solidFill>
                <a:latin typeface="Arial"/>
                <a:ea typeface="Arial"/>
                <a:cs typeface="Arial"/>
              </a:defRPr>
            </a:defPPr>
            <a:lvl1pPr>
              <a:defRPr sz="2700" b="0">
                <a:solidFill>
                  <a:srgbClr val="DCE6F3"/>
                </a:solidFill>
                <a:latin typeface="Arial"/>
                <a:ea typeface="Arial"/>
                <a:cs typeface="Arial"/>
              </a:defRPr>
            </a:lvl1pPr>
            <a:lvl2pPr>
              <a:defRPr sz="2700" b="0">
                <a:solidFill>
                  <a:srgbClr val="DCE6F3"/>
                </a:solidFill>
                <a:latin typeface="Arial"/>
                <a:ea typeface="Arial"/>
                <a:cs typeface="Arial"/>
              </a:defRPr>
            </a:lvl2pPr>
            <a:lvl3pPr>
              <a:defRPr sz="2700" b="0">
                <a:solidFill>
                  <a:srgbClr val="DCE6F3"/>
                </a:solidFill>
                <a:latin typeface="Arial"/>
                <a:ea typeface="Arial"/>
                <a:cs typeface="Arial"/>
              </a:defRPr>
            </a:lvl3pPr>
            <a:lvl4pPr>
              <a:defRPr sz="2700" b="0">
                <a:solidFill>
                  <a:srgbClr val="DCE6F3"/>
                </a:solidFill>
                <a:latin typeface="Arial"/>
                <a:ea typeface="Arial"/>
                <a:cs typeface="Arial"/>
              </a:defRPr>
            </a:lvl4pPr>
            <a:lvl5pPr>
              <a:defRPr sz="2700" b="0">
                <a:solidFill>
                  <a:srgbClr val="DCE6F3"/>
                </a:solidFill>
                <a:latin typeface="Arial"/>
                <a:ea typeface="Arial"/>
                <a:cs typeface="Arial"/>
              </a:defRPr>
            </a:lvl5pPr>
            <a:lvl6pPr>
              <a:defRPr sz="2700" b="0">
                <a:solidFill>
                  <a:srgbClr val="DCE6F3"/>
                </a:solidFill>
                <a:latin typeface="Arial"/>
                <a:ea typeface="Arial"/>
                <a:cs typeface="Arial"/>
              </a:defRPr>
            </a:lvl6pPr>
            <a:lvl7pPr>
              <a:defRPr sz="2700" b="0">
                <a:solidFill>
                  <a:srgbClr val="DCE6F3"/>
                </a:solidFill>
                <a:latin typeface="Arial"/>
                <a:ea typeface="Arial"/>
                <a:cs typeface="Arial"/>
              </a:defRPr>
            </a:lvl7pPr>
            <a:lvl8pPr>
              <a:defRPr sz="2700" b="0">
                <a:solidFill>
                  <a:srgbClr val="DCE6F3"/>
                </a:solidFill>
                <a:latin typeface="Arial"/>
                <a:ea typeface="Arial"/>
                <a:cs typeface="Arial"/>
              </a:defRPr>
            </a:lvl8pPr>
            <a:lvl9pPr>
              <a:defRPr sz="2700" b="0">
                <a:solidFill>
                  <a:srgbClr val="DCE6F3"/>
                </a:solidFill>
                <a:latin typeface="Arial"/>
                <a:ea typeface="Arial"/>
                <a:cs typeface="Arial"/>
              </a:defRPr>
            </a:lvl9pPr>
          </a:lstStyle>
          <a:p xmlns:a="http://schemas.openxmlformats.org/drawingml/2006/main">
            <a:pPr>
              <a:defRPr sz="2700" b="0">
                <a:solidFill>
                  <a:srgbClr val="DCE6F3"/>
                </a:solidFill>
                <a:latin typeface="Arial"/>
                <a:ea typeface="Arial"/>
                <a:cs typeface="Arial"/>
              </a:defRPr>
            </a:pPr>
            <a:r>
              <a:rPr sz="2700" b="0">
                <a:solidFill>
                  <a:srgbClr val="DCE6F3"/>
                </a:solidFill>
                <a:latin typeface="Arial"/>
                <a:ea typeface="Arial"/>
                <a:cs typeface="Arial"/>
              </a:rPr>
              <a:t>Project planning and compact analytics</a:t>
            </a:r>
          </a:p>
        </p:txBody>
      </p:sp>
      <p:sp>
        <p:nvSpPr>
          <p:cNvPr id="5" name="">
            <a:extLst xmlns:a="http://schemas.openxmlformats.org/drawingml/2006/main">
              <a:ext uri="{FF2B5EF4-FFF2-40B4-BE49-F238E27FC236}">
                <a16:creationId xmlns:a16="http://schemas.microsoft.com/office/drawing/2014/main" id="{9F0B8F70-DC71-4945-9137-F769250D4370}"/>
              </a:ext>
            </a:extLst>
          </p:cNvPr>
          <p:cNvSpPr>
            <a:spLocks xmlns:a="http://schemas.openxmlformats.org/drawingml/2006/main" noGrp="1"/>
          </p:cNvSpPr>
          <p:nvPr/>
        </p:nvSpPr>
        <p:spPr>
          <a:xfrm xmlns:a="http://schemas.openxmlformats.org/drawingml/2006/main">
            <a:off x="647700" y="54292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FC9D6"/>
                </a:solidFill>
                <a:latin typeface="Arial"/>
                <a:ea typeface="Arial"/>
                <a:cs typeface="Arial"/>
              </a:defRPr>
            </a:defPPr>
            <a:lvl1pPr>
              <a:defRPr sz="1800" b="0">
                <a:solidFill>
                  <a:srgbClr val="BFC9D6"/>
                </a:solidFill>
                <a:latin typeface="Arial"/>
                <a:ea typeface="Arial"/>
                <a:cs typeface="Arial"/>
              </a:defRPr>
            </a:lvl1pPr>
            <a:lvl2pPr>
              <a:defRPr sz="1800" b="0">
                <a:solidFill>
                  <a:srgbClr val="BFC9D6"/>
                </a:solidFill>
                <a:latin typeface="Arial"/>
                <a:ea typeface="Arial"/>
                <a:cs typeface="Arial"/>
              </a:defRPr>
            </a:lvl2pPr>
            <a:lvl3pPr>
              <a:defRPr sz="1800" b="0">
                <a:solidFill>
                  <a:srgbClr val="BFC9D6"/>
                </a:solidFill>
                <a:latin typeface="Arial"/>
                <a:ea typeface="Arial"/>
                <a:cs typeface="Arial"/>
              </a:defRPr>
            </a:lvl3pPr>
            <a:lvl4pPr>
              <a:defRPr sz="1800" b="0">
                <a:solidFill>
                  <a:srgbClr val="BFC9D6"/>
                </a:solidFill>
                <a:latin typeface="Arial"/>
                <a:ea typeface="Arial"/>
                <a:cs typeface="Arial"/>
              </a:defRPr>
            </a:lvl4pPr>
            <a:lvl5pPr>
              <a:defRPr sz="1800" b="0">
                <a:solidFill>
                  <a:srgbClr val="BFC9D6"/>
                </a:solidFill>
                <a:latin typeface="Arial"/>
                <a:ea typeface="Arial"/>
                <a:cs typeface="Arial"/>
              </a:defRPr>
            </a:lvl5pPr>
            <a:lvl6pPr>
              <a:defRPr sz="1800" b="0">
                <a:solidFill>
                  <a:srgbClr val="BFC9D6"/>
                </a:solidFill>
                <a:latin typeface="Arial"/>
                <a:ea typeface="Arial"/>
                <a:cs typeface="Arial"/>
              </a:defRPr>
            </a:lvl6pPr>
            <a:lvl7pPr>
              <a:defRPr sz="1800" b="0">
                <a:solidFill>
                  <a:srgbClr val="BFC9D6"/>
                </a:solidFill>
                <a:latin typeface="Arial"/>
                <a:ea typeface="Arial"/>
                <a:cs typeface="Arial"/>
              </a:defRPr>
            </a:lvl7pPr>
            <a:lvl8pPr>
              <a:defRPr sz="1800" b="0">
                <a:solidFill>
                  <a:srgbClr val="BFC9D6"/>
                </a:solidFill>
                <a:latin typeface="Arial"/>
                <a:ea typeface="Arial"/>
                <a:cs typeface="Arial"/>
              </a:defRPr>
            </a:lvl8pPr>
            <a:lvl9pPr>
              <a:defRPr sz="1800" b="0">
                <a:solidFill>
                  <a:srgbClr val="BFC9D6"/>
                </a:solidFill>
                <a:latin typeface="Arial"/>
                <a:ea typeface="Arial"/>
                <a:cs typeface="Arial"/>
              </a:defRPr>
            </a:lvl9pPr>
          </a:lstStyle>
          <a:p xmlns:a="http://schemas.openxmlformats.org/drawingml/2006/main">
            <a:pPr>
              <a:defRPr sz="1800" b="0">
                <a:solidFill>
                  <a:srgbClr val="BFC9D6"/>
                </a:solidFill>
                <a:latin typeface="Arial"/>
                <a:ea typeface="Arial"/>
                <a:cs typeface="Arial"/>
              </a:defRPr>
            </a:pPr>
            <a:r>
              <a:rPr sz="1800" b="0">
                <a:solidFill>
                  <a:srgbClr val="BFC9D6"/>
                </a:solidFill>
                <a:latin typeface="Arial"/>
                <a:ea typeface="Arial"/>
                <a:cs typeface="Arial"/>
              </a:rPr>
              <a:t>Python project presentation</a:t>
            </a:r>
          </a:p>
        </p:txBody>
      </p:sp>
    </p:spTree>
    <p:extLst>
      <p:ext uri="{BB962C8B-B14F-4D97-AF65-F5344CB8AC3E}">
        <p14:creationId xmlns:p14="http://schemas.microsoft.com/office/powerpoint/2010/main" val="298673934"/>
      </p:ext>
    </p:extLst>
  </p:cSld>
</p:sld>
</file>

<file path=ppt/slides/slide2.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8E5D5E8-1965-41C4-AB29-B2C6357BBA13}"/>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The planning problem</a:t>
            </a:r>
          </a:p>
        </p:txBody>
      </p:sp>
      <p:sp>
        <p:nvSpPr>
          <p:cNvPr id="3" name="">
            <a:extLst xmlns:a="http://schemas.openxmlformats.org/drawingml/2006/main">
              <a:ext uri="{FF2B5EF4-FFF2-40B4-BE49-F238E27FC236}">
                <a16:creationId xmlns:a16="http://schemas.microsoft.com/office/drawing/2014/main" id="{BB6BB91C-FA59-43A5-8EE1-4BCE2C84EBB5}"/>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7DFB580-042C-42F1-8344-0006E3B71AFF}"/>
              </a:ext>
            </a:extLst>
          </p:cNvPr>
          <p:cNvSpPr>
            <a:spLocks xmlns:a="http://schemas.openxmlformats.org/drawingml/2006/main" noGrp="1"/>
          </p:cNvSpPr>
          <p:nvPr/>
        </p:nvSpPr>
        <p:spPr>
          <a:xfrm xmlns:a="http://schemas.openxmlformats.org/drawingml/2006/main">
            <a:off x="609600" y="18097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Task lists hide sequencing</a:t>
            </a:r>
          </a:p>
        </p:txBody>
      </p:sp>
      <p:sp>
        <p:nvSpPr>
          <p:cNvPr id="5" name="">
            <a:extLst xmlns:a="http://schemas.openxmlformats.org/drawingml/2006/main">
              <a:ext uri="{FF2B5EF4-FFF2-40B4-BE49-F238E27FC236}">
                <a16:creationId xmlns:a16="http://schemas.microsoft.com/office/drawing/2014/main" id="{136C368E-F51F-4DA1-B9CB-C1161FADAB12}"/>
              </a:ext>
            </a:extLst>
          </p:cNvPr>
          <p:cNvSpPr>
            <a:spLocks xmlns:a="http://schemas.openxmlformats.org/drawingml/2006/main" noGrp="1"/>
          </p:cNvSpPr>
          <p:nvPr/>
        </p:nvSpPr>
        <p:spPr>
          <a:xfrm xmlns:a="http://schemas.openxmlformats.org/drawingml/2006/main">
            <a:off x="609600" y="2219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Some tasks must wait for other work to start or finish.</a:t>
            </a:r>
          </a:p>
        </p:txBody>
      </p:sp>
      <p:sp>
        <p:nvSpPr>
          <p:cNvPr id="6" name="">
            <a:extLst xmlns:a="http://schemas.openxmlformats.org/drawingml/2006/main">
              <a:ext uri="{FF2B5EF4-FFF2-40B4-BE49-F238E27FC236}">
                <a16:creationId xmlns:a16="http://schemas.microsoft.com/office/drawing/2014/main" id="{B43BB5F8-5186-4841-8FD8-12A598B051AF}"/>
              </a:ext>
            </a:extLst>
          </p:cNvPr>
          <p:cNvSpPr>
            <a:spLocks xmlns:a="http://schemas.openxmlformats.org/drawingml/2006/main" noGrp="1"/>
          </p:cNvSpPr>
          <p:nvPr/>
        </p:nvSpPr>
        <p:spPr>
          <a:xfrm xmlns:a="http://schemas.openxmlformats.org/drawingml/2006/main">
            <a:off x="609600" y="29527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Calendar dates need working-time rules</a:t>
            </a:r>
          </a:p>
        </p:txBody>
      </p:sp>
      <p:sp>
        <p:nvSpPr>
          <p:cNvPr id="7" name="">
            <a:extLst xmlns:a="http://schemas.openxmlformats.org/drawingml/2006/main">
              <a:ext uri="{FF2B5EF4-FFF2-40B4-BE49-F238E27FC236}">
                <a16:creationId xmlns:a16="http://schemas.microsoft.com/office/drawing/2014/main" id="{5552382B-2622-45F6-83E2-6581C43D81A3}"/>
              </a:ext>
            </a:extLst>
          </p:cNvPr>
          <p:cNvSpPr>
            <a:spLocks xmlns:a="http://schemas.openxmlformats.org/drawingml/2006/main" noGrp="1"/>
          </p:cNvSpPr>
          <p:nvPr/>
        </p:nvSpPr>
        <p:spPr>
          <a:xfrm xmlns:a="http://schemas.openxmlformats.org/drawingml/2006/main">
            <a:off x="609600" y="3362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Weekends and nonworking hours affect the plan.</a:t>
            </a:r>
          </a:p>
        </p:txBody>
      </p:sp>
      <p:sp>
        <p:nvSpPr>
          <p:cNvPr id="8" name="">
            <a:extLst xmlns:a="http://schemas.openxmlformats.org/drawingml/2006/main">
              <a:ext uri="{FF2B5EF4-FFF2-40B4-BE49-F238E27FC236}">
                <a16:creationId xmlns:a16="http://schemas.microsoft.com/office/drawing/2014/main" id="{5661FDCD-AE90-4268-A73A-177127E32107}"/>
              </a:ext>
            </a:extLst>
          </p:cNvPr>
          <p:cNvSpPr>
            <a:spLocks xmlns:a="http://schemas.openxmlformats.org/drawingml/2006/main" noGrp="1"/>
          </p:cNvSpPr>
          <p:nvPr/>
        </p:nvSpPr>
        <p:spPr>
          <a:xfrm xmlns:a="http://schemas.openxmlformats.org/drawingml/2006/main">
            <a:off x="609600" y="40957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Progress needs a consistent definition</a:t>
            </a:r>
          </a:p>
        </p:txBody>
      </p:sp>
      <p:sp>
        <p:nvSpPr>
          <p:cNvPr id="9" name="">
            <a:extLst xmlns:a="http://schemas.openxmlformats.org/drawingml/2006/main">
              <a:ext uri="{FF2B5EF4-FFF2-40B4-BE49-F238E27FC236}">
                <a16:creationId xmlns:a16="http://schemas.microsoft.com/office/drawing/2014/main" id="{889CA381-A40E-483E-9EAF-EEBE4FCC5124}"/>
              </a:ext>
            </a:extLst>
          </p:cNvPr>
          <p:cNvSpPr>
            <a:spLocks xmlns:a="http://schemas.openxmlformats.org/drawingml/2006/main" noGrp="1"/>
          </p:cNvSpPr>
          <p:nvPr/>
        </p:nvSpPr>
        <p:spPr>
          <a:xfrm xmlns:a="http://schemas.openxmlformats.org/drawingml/2006/main">
            <a:off x="609600" y="4505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ProjectPulse counts completed tasks and shows duration statistics.</a:t>
            </a:r>
          </a:p>
        </p:txBody>
      </p:sp>
    </p:spTree>
    <p:extLst>
      <p:ext uri="{BB962C8B-B14F-4D97-AF65-F5344CB8AC3E}">
        <p14:creationId xmlns:p14="http://schemas.microsoft.com/office/powerpoint/2010/main" val="1072444046"/>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5B15A38-C006-4053-8455-8BC24974E46E}"/>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Project structure and access</a:t>
            </a:r>
          </a:p>
        </p:txBody>
      </p:sp>
      <p:sp>
        <p:nvSpPr>
          <p:cNvPr id="3" name="">
            <a:extLst xmlns:a="http://schemas.openxmlformats.org/drawingml/2006/main">
              <a:ext uri="{FF2B5EF4-FFF2-40B4-BE49-F238E27FC236}">
                <a16:creationId xmlns:a16="http://schemas.microsoft.com/office/drawing/2014/main" id="{4B03EE2E-8257-4BE6-A7DF-C780F0811524}"/>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2AC6CF0-F138-4167-B1EA-FC7188B73E5D}"/>
              </a:ext>
            </a:extLst>
          </p:cNvPr>
          <p:cNvSpPr>
            <a:spLocks xmlns:a="http://schemas.openxmlformats.org/drawingml/2006/main" noGrp="1"/>
          </p:cNvSpPr>
          <p:nvPr/>
        </p:nvSpPr>
        <p:spPr>
          <a:xfrm xmlns:a="http://schemas.openxmlformats.org/drawingml/2006/main">
            <a:off x="609600" y="1619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6EDB"/>
                </a:solidFill>
                <a:latin typeface="Arial"/>
                <a:ea typeface="Arial"/>
                <a:cs typeface="Arial"/>
              </a:defRPr>
            </a:defPPr>
            <a:lvl1pPr>
              <a:defRPr sz="2700" b="1">
                <a:solidFill>
                  <a:srgbClr val="006EDB"/>
                </a:solidFill>
                <a:latin typeface="Arial"/>
                <a:ea typeface="Arial"/>
                <a:cs typeface="Arial"/>
              </a:defRPr>
            </a:lvl1pPr>
            <a:lvl2pPr>
              <a:defRPr sz="2700" b="1">
                <a:solidFill>
                  <a:srgbClr val="006EDB"/>
                </a:solidFill>
                <a:latin typeface="Arial"/>
                <a:ea typeface="Arial"/>
                <a:cs typeface="Arial"/>
              </a:defRPr>
            </a:lvl2pPr>
            <a:lvl3pPr>
              <a:defRPr sz="2700" b="1">
                <a:solidFill>
                  <a:srgbClr val="006EDB"/>
                </a:solidFill>
                <a:latin typeface="Arial"/>
                <a:ea typeface="Arial"/>
                <a:cs typeface="Arial"/>
              </a:defRPr>
            </a:lvl3pPr>
            <a:lvl4pPr>
              <a:defRPr sz="2700" b="1">
                <a:solidFill>
                  <a:srgbClr val="006EDB"/>
                </a:solidFill>
                <a:latin typeface="Arial"/>
                <a:ea typeface="Arial"/>
                <a:cs typeface="Arial"/>
              </a:defRPr>
            </a:lvl4pPr>
            <a:lvl5pPr>
              <a:defRPr sz="2700" b="1">
                <a:solidFill>
                  <a:srgbClr val="006EDB"/>
                </a:solidFill>
                <a:latin typeface="Arial"/>
                <a:ea typeface="Arial"/>
                <a:cs typeface="Arial"/>
              </a:defRPr>
            </a:lvl5pPr>
            <a:lvl6pPr>
              <a:defRPr sz="2700" b="1">
                <a:solidFill>
                  <a:srgbClr val="006EDB"/>
                </a:solidFill>
                <a:latin typeface="Arial"/>
                <a:ea typeface="Arial"/>
                <a:cs typeface="Arial"/>
              </a:defRPr>
            </a:lvl6pPr>
            <a:lvl7pPr>
              <a:defRPr sz="2700" b="1">
                <a:solidFill>
                  <a:srgbClr val="006EDB"/>
                </a:solidFill>
                <a:latin typeface="Arial"/>
                <a:ea typeface="Arial"/>
                <a:cs typeface="Arial"/>
              </a:defRPr>
            </a:lvl7pPr>
            <a:lvl8pPr>
              <a:defRPr sz="2700" b="1">
                <a:solidFill>
                  <a:srgbClr val="006EDB"/>
                </a:solidFill>
                <a:latin typeface="Arial"/>
                <a:ea typeface="Arial"/>
                <a:cs typeface="Arial"/>
              </a:defRPr>
            </a:lvl8pPr>
            <a:lvl9pPr>
              <a:defRPr sz="2700" b="1">
                <a:solidFill>
                  <a:srgbClr val="006EDB"/>
                </a:solidFill>
                <a:latin typeface="Arial"/>
                <a:ea typeface="Arial"/>
                <a:cs typeface="Arial"/>
              </a:defRPr>
            </a:lvl9pPr>
          </a:lstStyle>
          <a:p xmlns:a="http://schemas.openxmlformats.org/drawingml/2006/main">
            <a:pPr>
              <a:defRPr sz="2700" b="1">
                <a:solidFill>
                  <a:srgbClr val="006EDB"/>
                </a:solidFill>
                <a:latin typeface="Arial"/>
                <a:ea typeface="Arial"/>
                <a:cs typeface="Arial"/>
              </a:defRPr>
            </a:pPr>
            <a:r>
              <a:rPr sz="2700" b="1">
                <a:solidFill>
                  <a:srgbClr val="006EDB"/>
                </a:solidFill>
                <a:latin typeface="Arial"/>
                <a:ea typeface="Arial"/>
                <a:cs typeface="Arial"/>
              </a:rPr>
              <a:t>Organization / Workspace / Project</a:t>
            </a:r>
          </a:p>
        </p:txBody>
      </p:sp>
      <p:sp>
        <p:nvSpPr>
          <p:cNvPr id="5" name="">
            <a:extLst xmlns:a="http://schemas.openxmlformats.org/drawingml/2006/main">
              <a:ext uri="{FF2B5EF4-FFF2-40B4-BE49-F238E27FC236}">
                <a16:creationId xmlns:a16="http://schemas.microsoft.com/office/drawing/2014/main" id="{1C66F5D7-4972-47EA-B517-84AC0DCBC4B7}"/>
              </a:ext>
            </a:extLst>
          </p:cNvPr>
          <p:cNvSpPr>
            <a:spLocks xmlns:a="http://schemas.openxmlformats.org/drawingml/2006/main" noGrp="1"/>
          </p:cNvSpPr>
          <p:nvPr/>
        </p:nvSpPr>
        <p:spPr>
          <a:xfrm xmlns:a="http://schemas.openxmlformats.org/drawingml/2006/main">
            <a:off x="609600" y="2571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Owner and admin</a:t>
            </a:r>
          </a:p>
        </p:txBody>
      </p:sp>
      <p:sp>
        <p:nvSpPr>
          <p:cNvPr id="6" name="">
            <a:extLst xmlns:a="http://schemas.openxmlformats.org/drawingml/2006/main">
              <a:ext uri="{FF2B5EF4-FFF2-40B4-BE49-F238E27FC236}">
                <a16:creationId xmlns:a16="http://schemas.microsoft.com/office/drawing/2014/main" id="{A35CEA4F-89AF-4681-BA3F-D6BD7A125C5D}"/>
              </a:ext>
            </a:extLst>
          </p:cNvPr>
          <p:cNvSpPr>
            <a:spLocks xmlns:a="http://schemas.openxmlformats.org/drawingml/2006/main" noGrp="1"/>
          </p:cNvSpPr>
          <p:nvPr/>
        </p:nvSpPr>
        <p:spPr>
          <a:xfrm xmlns:a="http://schemas.openxmlformats.org/drawingml/2006/main">
            <a:off x="609600" y="29813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Manage organizational access and planning work.</a:t>
            </a:r>
          </a:p>
        </p:txBody>
      </p:sp>
      <p:sp>
        <p:nvSpPr>
          <p:cNvPr id="7" name="">
            <a:extLst xmlns:a="http://schemas.openxmlformats.org/drawingml/2006/main">
              <a:ext uri="{FF2B5EF4-FFF2-40B4-BE49-F238E27FC236}">
                <a16:creationId xmlns:a16="http://schemas.microsoft.com/office/drawing/2014/main" id="{3CFA4316-7AE0-4D12-9881-FA73816F5AAB}"/>
              </a:ext>
            </a:extLst>
          </p:cNvPr>
          <p:cNvSpPr>
            <a:spLocks xmlns:a="http://schemas.openxmlformats.org/drawingml/2006/main" noGrp="1"/>
          </p:cNvSpPr>
          <p:nvPr/>
        </p:nvSpPr>
        <p:spPr>
          <a:xfrm xmlns:a="http://schemas.openxmlformats.org/drawingml/2006/main">
            <a:off x="609600" y="3638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Editor</a:t>
            </a:r>
          </a:p>
        </p:txBody>
      </p:sp>
      <p:sp>
        <p:nvSpPr>
          <p:cNvPr id="8" name="">
            <a:extLst xmlns:a="http://schemas.openxmlformats.org/drawingml/2006/main">
              <a:ext uri="{FF2B5EF4-FFF2-40B4-BE49-F238E27FC236}">
                <a16:creationId xmlns:a16="http://schemas.microsoft.com/office/drawing/2014/main" id="{D744BAF2-93FB-437A-9EDF-0FCB056B7978}"/>
              </a:ext>
            </a:extLst>
          </p:cNvPr>
          <p:cNvSpPr>
            <a:spLocks xmlns:a="http://schemas.openxmlformats.org/drawingml/2006/main" noGrp="1"/>
          </p:cNvSpPr>
          <p:nvPr/>
        </p:nvSpPr>
        <p:spPr>
          <a:xfrm xmlns:a="http://schemas.openxmlformats.org/drawingml/2006/main">
            <a:off x="609600" y="4048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Create and update projects, tasks, dependencies, and calendars.</a:t>
            </a:r>
          </a:p>
        </p:txBody>
      </p:sp>
      <p:sp>
        <p:nvSpPr>
          <p:cNvPr id="9" name="">
            <a:extLst xmlns:a="http://schemas.openxmlformats.org/drawingml/2006/main">
              <a:ext uri="{FF2B5EF4-FFF2-40B4-BE49-F238E27FC236}">
                <a16:creationId xmlns:a16="http://schemas.microsoft.com/office/drawing/2014/main" id="{85C79BE2-1449-4871-9A2E-6BFFD7D93088}"/>
              </a:ext>
            </a:extLst>
          </p:cNvPr>
          <p:cNvSpPr>
            <a:spLocks xmlns:a="http://schemas.openxmlformats.org/drawingml/2006/main" noGrp="1"/>
          </p:cNvSpPr>
          <p:nvPr/>
        </p:nvSpPr>
        <p:spPr>
          <a:xfrm xmlns:a="http://schemas.openxmlformats.org/drawingml/2006/main">
            <a:off x="609600" y="47053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Viewer</a:t>
            </a:r>
          </a:p>
        </p:txBody>
      </p:sp>
      <p:sp>
        <p:nvSpPr>
          <p:cNvPr id="10" name="">
            <a:extLst xmlns:a="http://schemas.openxmlformats.org/drawingml/2006/main">
              <a:ext uri="{FF2B5EF4-FFF2-40B4-BE49-F238E27FC236}">
                <a16:creationId xmlns:a16="http://schemas.microsoft.com/office/drawing/2014/main" id="{1357C83E-1710-468B-B1D8-C6616B0483F7}"/>
              </a:ext>
            </a:extLst>
          </p:cNvPr>
          <p:cNvSpPr>
            <a:spLocks xmlns:a="http://schemas.openxmlformats.org/drawingml/2006/main" noGrp="1"/>
          </p:cNvSpPr>
          <p:nvPr/>
        </p:nvSpPr>
        <p:spPr>
          <a:xfrm xmlns:a="http://schemas.openxmlformats.org/drawingml/2006/main">
            <a:off x="609600" y="51149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Read tasks and schedules, inspect insights, and export dates.</a:t>
            </a:r>
          </a:p>
        </p:txBody>
      </p:sp>
    </p:spTree>
    <p:extLst>
      <p:ext uri="{BB962C8B-B14F-4D97-AF65-F5344CB8AC3E}">
        <p14:creationId xmlns:p14="http://schemas.microsoft.com/office/powerpoint/2010/main" val="1512125415"/>
      </p:ext>
    </p:extLst>
  </p:cSld>
</p:sld>
</file>

<file path=ppt/slides/slide4.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0E9025E-9B96-4942-9C6F-9213F4175F43}"/>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Technology and architecture</a:t>
            </a:r>
          </a:p>
        </p:txBody>
      </p:sp>
      <p:sp>
        <p:nvSpPr>
          <p:cNvPr id="3" name="">
            <a:extLst xmlns:a="http://schemas.openxmlformats.org/drawingml/2006/main">
              <a:ext uri="{FF2B5EF4-FFF2-40B4-BE49-F238E27FC236}">
                <a16:creationId xmlns:a16="http://schemas.microsoft.com/office/drawing/2014/main" id="{0A9781CF-9F8E-4AAD-AA0D-61625F60D313}"/>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A8B86BFF-1D43-416C-9204-82AF1911AB24}"/>
              </a:ext>
            </a:extLst>
          </p:cNvPr>
          <p:cNvGraphicFramePr/>
          <p:nvPr/>
        </p:nvGraphicFramePr>
        <p:xfrm>
          <a:off xmlns:a="http://schemas.openxmlformats.org/drawingml/2006/main" x="609600" y="1714500"/>
          <a:ext xmlns:a="http://schemas.openxmlformats.org/drawingml/2006/main" cx="10972800" cy="3524250"/>
        </p:xfrm>
        <a:graphic xmlns:a="http://schemas.openxmlformats.org/drawingml/2006/main">
          <a:graphicData uri="http://schemas.openxmlformats.org/drawingml/2006/table">
            <a:tbl>
              <a:tblPr/>
              <a:tblGrid>
                <a:gridCol w="2143125"/>
                <a:gridCol w="3810000"/>
                <a:gridCol w="5019675"/>
              </a:tblGrid>
              <a:tr h="704850">
                <a:tc>
                  <a:txBody>
                    <a:bodyPr/>
                    <a:lstStyle/>
                    <a:p>
                      <a:r>
                        <a:rPr sz="1800" b="1">
                          <a:solidFill>
                            <a:srgbClr val="17202B"/>
                          </a:solidFill>
                          <a:latin typeface="Arial"/>
                          <a:ea typeface="Arial"/>
                          <a:cs typeface="Arial"/>
                        </a:rPr>
                        <a:t>Layer</a:t>
                      </a:r>
                    </a:p>
                  </a:txBody>
                  <a:tcPr marL="91440" marR="91440" marT="45720" marB="45720">
                    <a:solidFill>
                      <a:srgbClr val="E2EAF4"/>
                    </a:solidFill>
                  </a:tcPr>
                </a:tc>
                <a:tc>
                  <a:txBody>
                    <a:bodyPr/>
                    <a:lstStyle/>
                    <a:p>
                      <a:r>
                        <a:rPr sz="1800" b="1">
                          <a:solidFill>
                            <a:srgbClr val="17202B"/>
                          </a:solidFill>
                          <a:latin typeface="Arial"/>
                          <a:ea typeface="Arial"/>
                          <a:cs typeface="Arial"/>
                        </a:rPr>
                        <a:t>Technology</a:t>
                      </a:r>
                    </a:p>
                  </a:txBody>
                  <a:tcPr marL="91440" marR="91440" marT="45720" marB="45720">
                    <a:solidFill>
                      <a:srgbClr val="E2EAF4"/>
                    </a:solidFill>
                  </a:tcPr>
                </a:tc>
                <a:tc>
                  <a:txBody>
                    <a:bodyPr/>
                    <a:lstStyle/>
                    <a:p>
                      <a:r>
                        <a:rPr sz="1800" b="1">
                          <a:solidFill>
                            <a:srgbClr val="17202B"/>
                          </a:solidFill>
                          <a:latin typeface="Arial"/>
                          <a:ea typeface="Arial"/>
                          <a:cs typeface="Arial"/>
                        </a:rPr>
                        <a:t>Responsibility</a:t>
                      </a:r>
                    </a:p>
                  </a:txBody>
                  <a:tcPr marL="91440" marR="91440" marT="45720" marB="45720">
                    <a:solidFill>
                      <a:srgbClr val="E2EAF4"/>
                    </a:solidFill>
                  </a:tcPr>
                </a:tc>
              </a:tr>
              <a:tr h="704850">
                <a:tc>
                  <a:txBody>
                    <a:bodyPr/>
                    <a:lstStyle/>
                    <a:p>
                      <a:r>
                        <a:rPr sz="1800" b="0">
                          <a:solidFill>
                            <a:srgbClr val="17202B"/>
                          </a:solidFill>
                          <a:latin typeface="Arial"/>
                          <a:ea typeface="Arial"/>
                          <a:cs typeface="Arial"/>
                        </a:rPr>
                        <a:t>Interface</a:t>
                      </a:r>
                    </a:p>
                  </a:txBody>
                  <a:tcPr marL="91440" marR="91440" marT="45720" marB="45720">
                    <a:solidFill>
                      <a:srgbClr val="FFFFFF"/>
                    </a:solidFill>
                  </a:tcPr>
                </a:tc>
                <a:tc>
                  <a:txBody>
                    <a:bodyPr/>
                    <a:lstStyle/>
                    <a:p>
                      <a:r>
                        <a:rPr sz="1800" b="0">
                          <a:solidFill>
                            <a:srgbClr val="17202B"/>
                          </a:solidFill>
                          <a:latin typeface="Arial"/>
                          <a:ea typeface="Arial"/>
                          <a:cs typeface="Arial"/>
                        </a:rPr>
                        <a:t>React, TypeScript, CSS</a:t>
                      </a:r>
                    </a:p>
                  </a:txBody>
                  <a:tcPr marL="91440" marR="91440" marT="45720" marB="45720">
                    <a:solidFill>
                      <a:srgbClr val="FFFFFF"/>
                    </a:solidFill>
                  </a:tcPr>
                </a:tc>
                <a:tc>
                  <a:txBody>
                    <a:bodyPr/>
                    <a:lstStyle/>
                    <a:p>
                      <a:r>
                        <a:rPr sz="1800" b="0">
                          <a:solidFill>
                            <a:srgbClr val="17202B"/>
                          </a:solidFill>
                          <a:latin typeface="Arial"/>
                          <a:ea typeface="Arial"/>
                          <a:cs typeface="Arial"/>
                        </a:rPr>
                        <a:t>Tasks, Timeline, Settings</a:t>
                      </a:r>
                    </a:p>
                  </a:txBody>
                  <a:tcPr marL="91440" marR="91440" marT="45720" marB="45720">
                    <a:solidFill>
                      <a:srgbClr val="FFFFFF"/>
                    </a:solidFill>
                  </a:tcPr>
                </a:tc>
              </a:tr>
              <a:tr h="704850">
                <a:tc>
                  <a:txBody>
                    <a:bodyPr/>
                    <a:lstStyle/>
                    <a:p>
                      <a:r>
                        <a:rPr sz="1800" b="0">
                          <a:solidFill>
                            <a:srgbClr val="17202B"/>
                          </a:solidFill>
                          <a:latin typeface="Arial"/>
                          <a:ea typeface="Arial"/>
                          <a:cs typeface="Arial"/>
                        </a:rPr>
                        <a:t>API and services</a:t>
                      </a:r>
                    </a:p>
                  </a:txBody>
                  <a:tcPr marL="91440" marR="91440" marT="45720" marB="45720">
                    <a:solidFill>
                      <a:srgbClr val="FFFFFF"/>
                    </a:solidFill>
                  </a:tcPr>
                </a:tc>
                <a:tc>
                  <a:txBody>
                    <a:bodyPr/>
                    <a:lstStyle/>
                    <a:p>
                      <a:r>
                        <a:rPr sz="1800" b="0">
                          <a:solidFill>
                            <a:srgbClr val="17202B"/>
                          </a:solidFill>
                          <a:latin typeface="Arial"/>
                          <a:ea typeface="Arial"/>
                          <a:cs typeface="Arial"/>
                        </a:rPr>
                        <a:t>Python, Flask</a:t>
                      </a:r>
                    </a:p>
                  </a:txBody>
                  <a:tcPr marL="91440" marR="91440" marT="45720" marB="45720">
                    <a:solidFill>
                      <a:srgbClr val="FFFFFF"/>
                    </a:solidFill>
                  </a:tcPr>
                </a:tc>
                <a:tc>
                  <a:txBody>
                    <a:bodyPr/>
                    <a:lstStyle/>
                    <a:p>
                      <a:r>
                        <a:rPr sz="1800" b="0">
                          <a:solidFill>
                            <a:srgbClr val="17202B"/>
                          </a:solidFill>
                          <a:latin typeface="Arial"/>
                          <a:ea typeface="Arial"/>
                          <a:cs typeface="Arial"/>
                        </a:rPr>
                        <a:t>Access control and scheduling</a:t>
                      </a:r>
                    </a:p>
                  </a:txBody>
                  <a:tcPr marL="91440" marR="91440" marT="45720" marB="45720">
                    <a:solidFill>
                      <a:srgbClr val="FFFFFF"/>
                    </a:solidFill>
                  </a:tcPr>
                </a:tc>
              </a:tr>
              <a:tr h="704850">
                <a:tc>
                  <a:txBody>
                    <a:bodyPr/>
                    <a:lstStyle/>
                    <a:p>
                      <a:r>
                        <a:rPr sz="1800" b="0">
                          <a:solidFill>
                            <a:srgbClr val="17202B"/>
                          </a:solidFill>
                          <a:latin typeface="Arial"/>
                          <a:ea typeface="Arial"/>
                          <a:cs typeface="Arial"/>
                        </a:rPr>
                        <a:t>Storage</a:t>
                      </a:r>
                    </a:p>
                  </a:txBody>
                  <a:tcPr marL="91440" marR="91440" marT="45720" marB="45720">
                    <a:solidFill>
                      <a:srgbClr val="FFFFFF"/>
                    </a:solidFill>
                  </a:tcPr>
                </a:tc>
                <a:tc>
                  <a:txBody>
                    <a:bodyPr/>
                    <a:lstStyle/>
                    <a:p>
                      <a:r>
                        <a:rPr sz="1800" b="0">
                          <a:solidFill>
                            <a:srgbClr val="17202B"/>
                          </a:solidFill>
                          <a:latin typeface="Arial"/>
                          <a:ea typeface="Arial"/>
                          <a:cs typeface="Arial"/>
                        </a:rPr>
                        <a:t>SQLite, SQLAlchemy, Alembic</a:t>
                      </a:r>
                    </a:p>
                  </a:txBody>
                  <a:tcPr marL="91440" marR="91440" marT="45720" marB="45720">
                    <a:solidFill>
                      <a:srgbClr val="FFFFFF"/>
                    </a:solidFill>
                  </a:tcPr>
                </a:tc>
                <a:tc>
                  <a:txBody>
                    <a:bodyPr/>
                    <a:lstStyle/>
                    <a:p>
                      <a:r>
                        <a:rPr sz="1800" b="0">
                          <a:solidFill>
                            <a:srgbClr val="17202B"/>
                          </a:solidFill>
                          <a:latin typeface="Arial"/>
                          <a:ea typeface="Arial"/>
                          <a:cs typeface="Arial"/>
                        </a:rPr>
                        <a:t>Planning data and migrations</a:t>
                      </a:r>
                    </a:p>
                  </a:txBody>
                  <a:tcPr marL="91440" marR="91440" marT="45720" marB="45720">
                    <a:solidFill>
                      <a:srgbClr val="FFFFFF"/>
                    </a:solidFill>
                  </a:tcPr>
                </a:tc>
              </a:tr>
              <a:tr h="704850">
                <a:tc>
                  <a:txBody>
                    <a:bodyPr/>
                    <a:lstStyle/>
                    <a:p>
                      <a:r>
                        <a:rPr sz="1800" b="0">
                          <a:solidFill>
                            <a:srgbClr val="17202B"/>
                          </a:solidFill>
                          <a:latin typeface="Arial"/>
                          <a:ea typeface="Arial"/>
                          <a:cs typeface="Arial"/>
                        </a:rPr>
                        <a:t>Analytics</a:t>
                      </a:r>
                    </a:p>
                  </a:txBody>
                  <a:tcPr marL="91440" marR="91440" marT="45720" marB="45720">
                    <a:solidFill>
                      <a:srgbClr val="FFFFFF"/>
                    </a:solidFill>
                  </a:tcPr>
                </a:tc>
                <a:tc>
                  <a:txBody>
                    <a:bodyPr/>
                    <a:lstStyle/>
                    <a:p>
                      <a:r>
                        <a:rPr sz="1800" b="0">
                          <a:solidFill>
                            <a:srgbClr val="17202B"/>
                          </a:solidFill>
                          <a:latin typeface="Arial"/>
                          <a:ea typeface="Arial"/>
                          <a:cs typeface="Arial"/>
                        </a:rPr>
                        <a:t>pandas and NumPy</a:t>
                      </a:r>
                    </a:p>
                  </a:txBody>
                  <a:tcPr marL="91440" marR="91440" marT="45720" marB="45720">
                    <a:solidFill>
                      <a:srgbClr val="FFFFFF"/>
                    </a:solidFill>
                  </a:tcPr>
                </a:tc>
                <a:tc>
                  <a:txBody>
                    <a:bodyPr/>
                    <a:lstStyle/>
                    <a:p>
                      <a:r>
                        <a:rPr sz="1800" b="0">
                          <a:solidFill>
                            <a:srgbClr val="17202B"/>
                          </a:solidFill>
                          <a:latin typeface="Arial"/>
                          <a:ea typeface="Arial"/>
                          <a:cs typeface="Arial"/>
                        </a:rPr>
                        <a:t>Status counts and statistics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D208475-415F-43A4-9B28-00602781EC5B}"/>
              </a:ext>
            </a:extLst>
          </p:cNvPr>
          <p:cNvSpPr>
            <a:spLocks xmlns:a="http://schemas.openxmlformats.org/drawingml/2006/main" noGrp="1"/>
          </p:cNvSpPr>
          <p:nvPr/>
        </p:nvSpPr>
        <p:spPr>
          <a:xfrm xmlns:a="http://schemas.openxmlformats.org/drawingml/2006/main">
            <a:off x="609600" y="5619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96574"/>
                </a:solidFill>
                <a:latin typeface="Arial"/>
                <a:ea typeface="Arial"/>
                <a:cs typeface="Arial"/>
              </a:defRPr>
            </a:defPPr>
            <a:lvl1pPr>
              <a:defRPr sz="1875" b="0">
                <a:solidFill>
                  <a:srgbClr val="596574"/>
                </a:solidFill>
                <a:latin typeface="Arial"/>
                <a:ea typeface="Arial"/>
                <a:cs typeface="Arial"/>
              </a:defRPr>
            </a:lvl1pPr>
            <a:lvl2pPr>
              <a:defRPr sz="1875" b="0">
                <a:solidFill>
                  <a:srgbClr val="596574"/>
                </a:solidFill>
                <a:latin typeface="Arial"/>
                <a:ea typeface="Arial"/>
                <a:cs typeface="Arial"/>
              </a:defRPr>
            </a:lvl2pPr>
            <a:lvl3pPr>
              <a:defRPr sz="1875" b="0">
                <a:solidFill>
                  <a:srgbClr val="596574"/>
                </a:solidFill>
                <a:latin typeface="Arial"/>
                <a:ea typeface="Arial"/>
                <a:cs typeface="Arial"/>
              </a:defRPr>
            </a:lvl3pPr>
            <a:lvl4pPr>
              <a:defRPr sz="1875" b="0">
                <a:solidFill>
                  <a:srgbClr val="596574"/>
                </a:solidFill>
                <a:latin typeface="Arial"/>
                <a:ea typeface="Arial"/>
                <a:cs typeface="Arial"/>
              </a:defRPr>
            </a:lvl4pPr>
            <a:lvl5pPr>
              <a:defRPr sz="1875" b="0">
                <a:solidFill>
                  <a:srgbClr val="596574"/>
                </a:solidFill>
                <a:latin typeface="Arial"/>
                <a:ea typeface="Arial"/>
                <a:cs typeface="Arial"/>
              </a:defRPr>
            </a:lvl5pPr>
            <a:lvl6pPr>
              <a:defRPr sz="1875" b="0">
                <a:solidFill>
                  <a:srgbClr val="596574"/>
                </a:solidFill>
                <a:latin typeface="Arial"/>
                <a:ea typeface="Arial"/>
                <a:cs typeface="Arial"/>
              </a:defRPr>
            </a:lvl6pPr>
            <a:lvl7pPr>
              <a:defRPr sz="1875" b="0">
                <a:solidFill>
                  <a:srgbClr val="596574"/>
                </a:solidFill>
                <a:latin typeface="Arial"/>
                <a:ea typeface="Arial"/>
                <a:cs typeface="Arial"/>
              </a:defRPr>
            </a:lvl7pPr>
            <a:lvl8pPr>
              <a:defRPr sz="1875" b="0">
                <a:solidFill>
                  <a:srgbClr val="596574"/>
                </a:solidFill>
                <a:latin typeface="Arial"/>
                <a:ea typeface="Arial"/>
                <a:cs typeface="Arial"/>
              </a:defRPr>
            </a:lvl8pPr>
            <a:lvl9pPr>
              <a:defRPr sz="1875" b="0">
                <a:solidFill>
                  <a:srgbClr val="596574"/>
                </a:solidFill>
                <a:latin typeface="Arial"/>
                <a:ea typeface="Arial"/>
                <a:cs typeface="Arial"/>
              </a:defRPr>
            </a:lvl9pPr>
          </a:lstStyle>
          <a:p xmlns:a="http://schemas.openxmlformats.org/drawingml/2006/main">
            <a:pPr>
              <a:defRPr sz="1875" b="0">
                <a:solidFill>
                  <a:srgbClr val="596574"/>
                </a:solidFill>
                <a:latin typeface="Arial"/>
                <a:ea typeface="Arial"/>
                <a:cs typeface="Arial"/>
              </a:defRPr>
            </a:pPr>
            <a:r>
              <a:rPr sz="1875" b="0">
                <a:solidFill>
                  <a:srgbClr val="596574"/>
                </a:solidFill>
                <a:latin typeface="Arial"/>
                <a:ea typeface="Arial"/>
                <a:cs typeface="Arial"/>
              </a:rPr>
              <a:t>The browser requests data from the API. Services calculate results from stored inputs.</a:t>
            </a:r>
          </a:p>
        </p:txBody>
      </p:sp>
    </p:spTree>
    <p:extLst>
      <p:ext uri="{BB962C8B-B14F-4D97-AF65-F5344CB8AC3E}">
        <p14:creationId xmlns:p14="http://schemas.microsoft.com/office/powerpoint/2010/main" val="236459991"/>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C58DAC7-DBCD-4E2C-AF0B-47F6577A8569}"/>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A focused planning workspace</a:t>
            </a:r>
          </a:p>
        </p:txBody>
      </p:sp>
      <p:sp>
        <p:nvSpPr>
          <p:cNvPr id="3" name="">
            <a:extLst xmlns:a="http://schemas.openxmlformats.org/drawingml/2006/main">
              <a:ext uri="{FF2B5EF4-FFF2-40B4-BE49-F238E27FC236}">
                <a16:creationId xmlns:a16="http://schemas.microsoft.com/office/drawing/2014/main" id="{8F5F3E13-4412-41E9-987A-561D362CF2E0}"/>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946CA899-C365-46F3-BC7E-93C59C482AA1}"/>
              </a:ext>
            </a:extLst>
          </p:cNvPr>
          <p:cNvSpPr>
            <a:spLocks xmlns:a="http://schemas.openxmlformats.org/drawingml/2006/main" noGrp="1"/>
          </p:cNvSpPr>
          <p:nvPr/>
        </p:nvSpPr>
        <p:spPr>
          <a:xfrm xmlns:a="http://schemas.openxmlformats.org/drawingml/2006/main">
            <a:off x="9372600" y="18097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Top navigation</a:t>
            </a:r>
          </a:p>
        </p:txBody>
      </p:sp>
      <p:sp>
        <p:nvSpPr>
          <p:cNvPr id="5" name="">
            <a:extLst xmlns:a="http://schemas.openxmlformats.org/drawingml/2006/main">
              <a:ext uri="{FF2B5EF4-FFF2-40B4-BE49-F238E27FC236}">
                <a16:creationId xmlns:a16="http://schemas.microsoft.com/office/drawing/2014/main" id="{0395665D-F16F-4392-B1CD-A66FE8D7B654}"/>
              </a:ext>
            </a:extLst>
          </p:cNvPr>
          <p:cNvSpPr>
            <a:spLocks xmlns:a="http://schemas.openxmlformats.org/drawingml/2006/main" noGrp="1"/>
          </p:cNvSpPr>
          <p:nvPr/>
        </p:nvSpPr>
        <p:spPr>
          <a:xfrm xmlns:a="http://schemas.openxmlformats.org/drawingml/2006/main">
            <a:off x="9372600" y="2524125"/>
            <a:ext cx="219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One project context across all three views.</a:t>
            </a:r>
          </a:p>
        </p:txBody>
      </p:sp>
      <p:sp>
        <p:nvSpPr>
          <p:cNvPr id="6" name="">
            <a:extLst xmlns:a="http://schemas.openxmlformats.org/drawingml/2006/main">
              <a:ext uri="{FF2B5EF4-FFF2-40B4-BE49-F238E27FC236}">
                <a16:creationId xmlns:a16="http://schemas.microsoft.com/office/drawing/2014/main" id="{3296FD57-379A-4A11-BD4B-511D83314DDF}"/>
              </a:ext>
            </a:extLst>
          </p:cNvPr>
          <p:cNvSpPr>
            <a:spLocks xmlns:a="http://schemas.openxmlformats.org/drawingml/2006/main" noGrp="1"/>
          </p:cNvSpPr>
          <p:nvPr/>
        </p:nvSpPr>
        <p:spPr>
          <a:xfrm xmlns:a="http://schemas.openxmlformats.org/drawingml/2006/main">
            <a:off x="9372600" y="404812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Task summary</a:t>
            </a:r>
          </a:p>
        </p:txBody>
      </p:sp>
      <p:sp>
        <p:nvSpPr>
          <p:cNvPr id="7" name="">
            <a:extLst xmlns:a="http://schemas.openxmlformats.org/drawingml/2006/main">
              <a:ext uri="{FF2B5EF4-FFF2-40B4-BE49-F238E27FC236}">
                <a16:creationId xmlns:a16="http://schemas.microsoft.com/office/drawing/2014/main" id="{C225B4AC-99D1-4D50-BC28-2444FD086A26}"/>
              </a:ext>
            </a:extLst>
          </p:cNvPr>
          <p:cNvSpPr>
            <a:spLocks xmlns:a="http://schemas.openxmlformats.org/drawingml/2006/main" noGrp="1"/>
          </p:cNvSpPr>
          <p:nvPr/>
        </p:nvSpPr>
        <p:spPr>
          <a:xfrm xmlns:a="http://schemas.openxmlformats.org/drawingml/2006/main">
            <a:off x="9372600" y="47148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Completion stays visible above the list.</a:t>
            </a:r>
          </a:p>
        </p:txBody>
      </p:sp>
      <p:pic>
        <p:nvPicPr>
          <p:cNvPr id="8" name="">
            <a:extLst xmlns:a="http://schemas.openxmlformats.org/drawingml/2006/main">
              <a:ext uri="{FF2B5EF4-FFF2-40B4-BE49-F238E27FC236}">
                <a16:creationId xmlns:a16="http://schemas.microsoft.com/office/drawing/2014/main" id="{AA45464E-6D50-4AE1-BC89-64613D7A5294}"/>
              </a:ext>
            </a:extLst>
          </p:cNvPr>
          <p:cNvPicPr>
            <a:picLocks xmlns:a="http://schemas.openxmlformats.org/drawingml/2006/main" noChangeAspect="1"/>
          </p:cNvPicPr>
          <p:nvPr/>
        </p:nvPicPr>
        <p:blipFill>
          <a:blip xmlns:r="http://schemas.openxmlformats.org/officeDocument/2006/relationships" xmlns:a="http://schemas.openxmlformats.org/drawingml/2006/main" r:embed="Rfcc8cb04eb9f479c"/>
          <a:stretch xmlns:a="http://schemas.openxmlformats.org/drawingml/2006/main"/>
        </p:blipFill>
        <p:spPr>
          <a:xfrm xmlns:a="http://schemas.openxmlformats.org/drawingml/2006/main">
            <a:off x="1247775" y="1285875"/>
            <a:ext cx="7200900" cy="5000625"/>
          </a:xfrm>
          <a:prstGeom xmlns:a="http://schemas.openxmlformats.org/drawingml/2006/main" prst="rect">
            <a:avLst/>
          </a:prstGeom>
        </p:spPr>
      </p:pic>
    </p:spTree>
    <p:extLst>
      <p:ext uri="{BB962C8B-B14F-4D97-AF65-F5344CB8AC3E}">
        <p14:creationId xmlns:p14="http://schemas.microsoft.com/office/powerpoint/2010/main" val="932762054"/>
      </p:ext>
    </p:extLst>
  </p:cSld>
</p:sld>
</file>

<file path=ppt/slides/slide6.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CAD905E-F02F-433A-92B6-FB89CB22DFDF}"/>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Task editing and progress</a:t>
            </a:r>
          </a:p>
        </p:txBody>
      </p:sp>
      <p:sp>
        <p:nvSpPr>
          <p:cNvPr id="3" name="">
            <a:extLst xmlns:a="http://schemas.openxmlformats.org/drawingml/2006/main">
              <a:ext uri="{FF2B5EF4-FFF2-40B4-BE49-F238E27FC236}">
                <a16:creationId xmlns:a16="http://schemas.microsoft.com/office/drawing/2014/main" id="{24E12B33-CB43-466B-83FF-CB8695B1BC6F}"/>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D3C287D3-8151-42D9-A449-4B081CAB344B}"/>
              </a:ext>
            </a:extLst>
          </p:cNvPr>
          <p:cNvSpPr>
            <a:spLocks xmlns:a="http://schemas.openxmlformats.org/drawingml/2006/main" noGrp="1"/>
          </p:cNvSpPr>
          <p:nvPr/>
        </p:nvSpPr>
        <p:spPr>
          <a:xfrm xmlns:a="http://schemas.openxmlformats.org/drawingml/2006/main">
            <a:off x="5619750" y="1619250"/>
            <a:ext cx="595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Select a task</a:t>
            </a:r>
          </a:p>
        </p:txBody>
      </p:sp>
      <p:sp>
        <p:nvSpPr>
          <p:cNvPr id="5" name="">
            <a:extLst xmlns:a="http://schemas.openxmlformats.org/drawingml/2006/main">
              <a:ext uri="{FF2B5EF4-FFF2-40B4-BE49-F238E27FC236}">
                <a16:creationId xmlns:a16="http://schemas.microsoft.com/office/drawing/2014/main" id="{482F732D-A651-455E-BC0E-216869B2B8D4}"/>
              </a:ext>
            </a:extLst>
          </p:cNvPr>
          <p:cNvSpPr>
            <a:spLocks xmlns:a="http://schemas.openxmlformats.org/drawingml/2006/main" noGrp="1"/>
          </p:cNvSpPr>
          <p:nvPr/>
        </p:nvSpPr>
        <p:spPr>
          <a:xfrm xmlns:a="http://schemas.openxmlformats.org/drawingml/2006/main">
            <a:off x="5619750" y="2028825"/>
            <a:ext cx="595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Edit its name, duration, priority, status, and progress.</a:t>
            </a:r>
          </a:p>
        </p:txBody>
      </p:sp>
      <p:sp>
        <p:nvSpPr>
          <p:cNvPr id="6" name="">
            <a:extLst xmlns:a="http://schemas.openxmlformats.org/drawingml/2006/main">
              <a:ext uri="{FF2B5EF4-FFF2-40B4-BE49-F238E27FC236}">
                <a16:creationId xmlns:a16="http://schemas.microsoft.com/office/drawing/2014/main" id="{DA3F5D63-B7F9-426C-AF22-67440D674718}"/>
              </a:ext>
            </a:extLst>
          </p:cNvPr>
          <p:cNvSpPr>
            <a:spLocks xmlns:a="http://schemas.openxmlformats.org/drawingml/2006/main" noGrp="1"/>
          </p:cNvSpPr>
          <p:nvPr/>
        </p:nvSpPr>
        <p:spPr>
          <a:xfrm xmlns:a="http://schemas.openxmlformats.org/drawingml/2006/main">
            <a:off x="5619750" y="3048000"/>
            <a:ext cx="595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Add dependencies</a:t>
            </a:r>
          </a:p>
        </p:txBody>
      </p:sp>
      <p:sp>
        <p:nvSpPr>
          <p:cNvPr id="7" name="">
            <a:extLst xmlns:a="http://schemas.openxmlformats.org/drawingml/2006/main">
              <a:ext uri="{FF2B5EF4-FFF2-40B4-BE49-F238E27FC236}">
                <a16:creationId xmlns:a16="http://schemas.microsoft.com/office/drawing/2014/main" id="{0656A1DC-0674-4BC5-AB78-4ED51466A4D0}"/>
              </a:ext>
            </a:extLst>
          </p:cNvPr>
          <p:cNvSpPr>
            <a:spLocks xmlns:a="http://schemas.openxmlformats.org/drawingml/2006/main" noGrp="1"/>
          </p:cNvSpPr>
          <p:nvPr/>
        </p:nvSpPr>
        <p:spPr>
          <a:xfrm xmlns:a="http://schemas.openxmlformats.org/drawingml/2006/main">
            <a:off x="5619750" y="3457575"/>
            <a:ext cx="595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Connect predecessor and successor tasks in the same dialog.</a:t>
            </a:r>
          </a:p>
        </p:txBody>
      </p:sp>
      <p:sp>
        <p:nvSpPr>
          <p:cNvPr id="8" name="">
            <a:extLst xmlns:a="http://schemas.openxmlformats.org/drawingml/2006/main">
              <a:ext uri="{FF2B5EF4-FFF2-40B4-BE49-F238E27FC236}">
                <a16:creationId xmlns:a16="http://schemas.microsoft.com/office/drawing/2014/main" id="{8D8ADD7C-3BAF-4DF1-BAA9-33BF198DDAD1}"/>
              </a:ext>
            </a:extLst>
          </p:cNvPr>
          <p:cNvSpPr>
            <a:spLocks xmlns:a="http://schemas.openxmlformats.org/drawingml/2006/main" noGrp="1"/>
          </p:cNvSpPr>
          <p:nvPr/>
        </p:nvSpPr>
        <p:spPr>
          <a:xfrm xmlns:a="http://schemas.openxmlformats.org/drawingml/2006/main">
            <a:off x="5619750" y="4476750"/>
            <a:ext cx="595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Save the changes</a:t>
            </a:r>
          </a:p>
        </p:txBody>
      </p:sp>
      <p:sp>
        <p:nvSpPr>
          <p:cNvPr id="9" name="">
            <a:extLst xmlns:a="http://schemas.openxmlformats.org/drawingml/2006/main">
              <a:ext uri="{FF2B5EF4-FFF2-40B4-BE49-F238E27FC236}">
                <a16:creationId xmlns:a16="http://schemas.microsoft.com/office/drawing/2014/main" id="{E1B56693-230F-4829-9E5A-47D119A5629F}"/>
              </a:ext>
            </a:extLst>
          </p:cNvPr>
          <p:cNvSpPr>
            <a:spLocks xmlns:a="http://schemas.openxmlformats.org/drawingml/2006/main" noGrp="1"/>
          </p:cNvSpPr>
          <p:nvPr/>
        </p:nvSpPr>
        <p:spPr>
          <a:xfrm xmlns:a="http://schemas.openxmlformats.org/drawingml/2006/main">
            <a:off x="5619750" y="4886325"/>
            <a:ext cx="595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The task list and project summary refresh.</a:t>
            </a:r>
          </a:p>
        </p:txBody>
      </p:sp>
      <p:pic>
        <p:nvPicPr>
          <p:cNvPr id="10" name="">
            <a:extLst xmlns:a="http://schemas.openxmlformats.org/drawingml/2006/main">
              <a:ext uri="{FF2B5EF4-FFF2-40B4-BE49-F238E27FC236}">
                <a16:creationId xmlns:a16="http://schemas.microsoft.com/office/drawing/2014/main" id="{DE9B955D-3309-4390-9164-F4D31FD3B827}"/>
              </a:ext>
            </a:extLst>
          </p:cNvPr>
          <p:cNvPicPr>
            <a:picLocks xmlns:a="http://schemas.openxmlformats.org/drawingml/2006/main" noChangeAspect="1"/>
          </p:cNvPicPr>
          <p:nvPr/>
        </p:nvPicPr>
        <p:blipFill>
          <a:blip xmlns:r="http://schemas.openxmlformats.org/officeDocument/2006/relationships" xmlns:a="http://schemas.openxmlformats.org/drawingml/2006/main" r:embed="R5485462b4e8242d0"/>
          <a:stretch xmlns:a="http://schemas.openxmlformats.org/drawingml/2006/main"/>
        </p:blipFill>
        <p:spPr>
          <a:xfrm xmlns:a="http://schemas.openxmlformats.org/drawingml/2006/main">
            <a:off x="632099" y="1333500"/>
            <a:ext cx="4431753" cy="4905375"/>
          </a:xfrm>
          <a:prstGeom xmlns:a="http://schemas.openxmlformats.org/drawingml/2006/main" prst="rect">
            <a:avLst/>
          </a:prstGeom>
        </p:spPr>
      </p:pic>
    </p:spTree>
    <p:extLst>
      <p:ext uri="{BB962C8B-B14F-4D97-AF65-F5344CB8AC3E}">
        <p14:creationId xmlns:p14="http://schemas.microsoft.com/office/powerpoint/2010/main" val="877071387"/>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9BDDF22-38F1-4566-AD27-ED2EC56F3949}"/>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Dependencies and working time</a:t>
            </a:r>
          </a:p>
        </p:txBody>
      </p:sp>
      <p:sp>
        <p:nvSpPr>
          <p:cNvPr id="3" name="">
            <a:extLst xmlns:a="http://schemas.openxmlformats.org/drawingml/2006/main">
              <a:ext uri="{FF2B5EF4-FFF2-40B4-BE49-F238E27FC236}">
                <a16:creationId xmlns:a16="http://schemas.microsoft.com/office/drawing/2014/main" id="{B82963D5-D03D-48B6-B8A8-54940991791E}"/>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7B6ABAFF-9AC3-4C0D-B8EA-3EE6DD189B3C}"/>
              </a:ext>
            </a:extLst>
          </p:cNvPr>
          <p:cNvGraphicFramePr/>
          <p:nvPr/>
        </p:nvGraphicFramePr>
        <p:xfrm>
          <a:off xmlns:a="http://schemas.openxmlformats.org/drawingml/2006/main" x="609600" y="1714500"/>
          <a:ext xmlns:a="http://schemas.openxmlformats.org/drawingml/2006/main" cx="10972800" cy="3524250"/>
        </p:xfrm>
        <a:graphic xmlns:a="http://schemas.openxmlformats.org/drawingml/2006/main">
          <a:graphicData uri="http://schemas.openxmlformats.org/drawingml/2006/table">
            <a:tbl>
              <a:tblPr/>
              <a:tblGrid>
                <a:gridCol w="4191000"/>
                <a:gridCol w="6781800"/>
              </a:tblGrid>
              <a:tr h="704850">
                <a:tc>
                  <a:txBody>
                    <a:bodyPr/>
                    <a:lstStyle/>
                    <a:p>
                      <a:r>
                        <a:rPr sz="1800" b="1">
                          <a:solidFill>
                            <a:srgbClr val="17202B"/>
                          </a:solidFill>
                          <a:latin typeface="Arial"/>
                          <a:ea typeface="Arial"/>
                          <a:cs typeface="Arial"/>
                        </a:rPr>
                        <a:t>Relation</a:t>
                      </a:r>
                    </a:p>
                  </a:txBody>
                  <a:tcPr marL="91440" marR="91440" marT="45720" marB="45720">
                    <a:solidFill>
                      <a:srgbClr val="E2EAF4"/>
                    </a:solidFill>
                  </a:tcPr>
                </a:tc>
                <a:tc>
                  <a:txBody>
                    <a:bodyPr/>
                    <a:lstStyle/>
                    <a:p>
                      <a:r>
                        <a:rPr sz="1800" b="1">
                          <a:solidFill>
                            <a:srgbClr val="17202B"/>
                          </a:solidFill>
                          <a:latin typeface="Arial"/>
                          <a:ea typeface="Arial"/>
                          <a:cs typeface="Arial"/>
                        </a:rPr>
                        <a:t>Constraint</a:t>
                      </a:r>
                    </a:p>
                  </a:txBody>
                  <a:tcPr marL="91440" marR="91440" marT="45720" marB="45720">
                    <a:solidFill>
                      <a:srgbClr val="E2EAF4"/>
                    </a:solidFill>
                  </a:tcPr>
                </a:tc>
              </a:tr>
              <a:tr h="704850">
                <a:tc>
                  <a:txBody>
                    <a:bodyPr/>
                    <a:lstStyle/>
                    <a:p>
                      <a:r>
                        <a:rPr sz="1800" b="0">
                          <a:solidFill>
                            <a:srgbClr val="17202B"/>
                          </a:solidFill>
                          <a:latin typeface="Arial"/>
                          <a:ea typeface="Arial"/>
                          <a:cs typeface="Arial"/>
                        </a:rPr>
                        <a:t>FS: Finish to start</a:t>
                      </a:r>
                    </a:p>
                  </a:txBody>
                  <a:tcPr marL="91440" marR="91440" marT="45720" marB="45720">
                    <a:solidFill>
                      <a:srgbClr val="FFFFFF"/>
                    </a:solidFill>
                  </a:tcPr>
                </a:tc>
                <a:tc>
                  <a:txBody>
                    <a:bodyPr/>
                    <a:lstStyle/>
                    <a:p>
                      <a:r>
                        <a:rPr sz="1800" b="0">
                          <a:solidFill>
                            <a:srgbClr val="17202B"/>
                          </a:solidFill>
                          <a:latin typeface="Arial"/>
                          <a:ea typeface="Arial"/>
                          <a:cs typeface="Arial"/>
                        </a:rPr>
                        <a:t>Successor start follows predecessor finish</a:t>
                      </a:r>
                    </a:p>
                  </a:txBody>
                  <a:tcPr marL="91440" marR="91440" marT="45720" marB="45720">
                    <a:solidFill>
                      <a:srgbClr val="FFFFFF"/>
                    </a:solidFill>
                  </a:tcPr>
                </a:tc>
              </a:tr>
              <a:tr h="704850">
                <a:tc>
                  <a:txBody>
                    <a:bodyPr/>
                    <a:lstStyle/>
                    <a:p>
                      <a:r>
                        <a:rPr sz="1800" b="0">
                          <a:solidFill>
                            <a:srgbClr val="17202B"/>
                          </a:solidFill>
                          <a:latin typeface="Arial"/>
                          <a:ea typeface="Arial"/>
                          <a:cs typeface="Arial"/>
                        </a:rPr>
                        <a:t>SS: Start to start</a:t>
                      </a:r>
                    </a:p>
                  </a:txBody>
                  <a:tcPr marL="91440" marR="91440" marT="45720" marB="45720">
                    <a:solidFill>
                      <a:srgbClr val="FFFFFF"/>
                    </a:solidFill>
                  </a:tcPr>
                </a:tc>
                <a:tc>
                  <a:txBody>
                    <a:bodyPr/>
                    <a:lstStyle/>
                    <a:p>
                      <a:r>
                        <a:rPr sz="1800" b="0">
                          <a:solidFill>
                            <a:srgbClr val="17202B"/>
                          </a:solidFill>
                          <a:latin typeface="Arial"/>
                          <a:ea typeface="Arial"/>
                          <a:cs typeface="Arial"/>
                        </a:rPr>
                        <a:t>Successor start follows predecessor start</a:t>
                      </a:r>
                    </a:p>
                  </a:txBody>
                  <a:tcPr marL="91440" marR="91440" marT="45720" marB="45720">
                    <a:solidFill>
                      <a:srgbClr val="FFFFFF"/>
                    </a:solidFill>
                  </a:tcPr>
                </a:tc>
              </a:tr>
              <a:tr h="704850">
                <a:tc>
                  <a:txBody>
                    <a:bodyPr/>
                    <a:lstStyle/>
                    <a:p>
                      <a:r>
                        <a:rPr sz="1800" b="0">
                          <a:solidFill>
                            <a:srgbClr val="17202B"/>
                          </a:solidFill>
                          <a:latin typeface="Arial"/>
                          <a:ea typeface="Arial"/>
                          <a:cs typeface="Arial"/>
                        </a:rPr>
                        <a:t>FF: Finish to finish</a:t>
                      </a:r>
                    </a:p>
                  </a:txBody>
                  <a:tcPr marL="91440" marR="91440" marT="45720" marB="45720">
                    <a:solidFill>
                      <a:srgbClr val="FFFFFF"/>
                    </a:solidFill>
                  </a:tcPr>
                </a:tc>
                <a:tc>
                  <a:txBody>
                    <a:bodyPr/>
                    <a:lstStyle/>
                    <a:p>
                      <a:r>
                        <a:rPr sz="1800" b="0">
                          <a:solidFill>
                            <a:srgbClr val="17202B"/>
                          </a:solidFill>
                          <a:latin typeface="Arial"/>
                          <a:ea typeface="Arial"/>
                          <a:cs typeface="Arial"/>
                        </a:rPr>
                        <a:t>Successor finish follows predecessor finish</a:t>
                      </a:r>
                    </a:p>
                  </a:txBody>
                  <a:tcPr marL="91440" marR="91440" marT="45720" marB="45720">
                    <a:solidFill>
                      <a:srgbClr val="FFFFFF"/>
                    </a:solidFill>
                  </a:tcPr>
                </a:tc>
              </a:tr>
              <a:tr h="704850">
                <a:tc>
                  <a:txBody>
                    <a:bodyPr/>
                    <a:lstStyle/>
                    <a:p>
                      <a:r>
                        <a:rPr sz="1800" b="0">
                          <a:solidFill>
                            <a:srgbClr val="17202B"/>
                          </a:solidFill>
                          <a:latin typeface="Arial"/>
                          <a:ea typeface="Arial"/>
                          <a:cs typeface="Arial"/>
                        </a:rPr>
                        <a:t>SF: Start to finish</a:t>
                      </a:r>
                    </a:p>
                  </a:txBody>
                  <a:tcPr marL="91440" marR="91440" marT="45720" marB="45720">
                    <a:solidFill>
                      <a:srgbClr val="FFFFFF"/>
                    </a:solidFill>
                  </a:tcPr>
                </a:tc>
                <a:tc>
                  <a:txBody>
                    <a:bodyPr/>
                    <a:lstStyle/>
                    <a:p>
                      <a:r>
                        <a:rPr sz="1800" b="0">
                          <a:solidFill>
                            <a:srgbClr val="17202B"/>
                          </a:solidFill>
                          <a:latin typeface="Arial"/>
                          <a:ea typeface="Arial"/>
                          <a:cs typeface="Arial"/>
                        </a:rPr>
                        <a:t>Successor finish follows predecessor start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BE1799-2A18-46B1-AA7B-A508B6CA936A}"/>
              </a:ext>
            </a:extLst>
          </p:cNvPr>
          <p:cNvSpPr>
            <a:spLocks xmlns:a="http://schemas.openxmlformats.org/drawingml/2006/main" noGrp="1"/>
          </p:cNvSpPr>
          <p:nvPr/>
        </p:nvSpPr>
        <p:spPr>
          <a:xfrm xmlns:a="http://schemas.openxmlformats.org/drawingml/2006/main">
            <a:off x="609600" y="56197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96574"/>
                </a:solidFill>
                <a:latin typeface="Arial"/>
                <a:ea typeface="Arial"/>
                <a:cs typeface="Arial"/>
              </a:defRPr>
            </a:defPPr>
            <a:lvl1pPr>
              <a:defRPr sz="1875" b="0">
                <a:solidFill>
                  <a:srgbClr val="596574"/>
                </a:solidFill>
                <a:latin typeface="Arial"/>
                <a:ea typeface="Arial"/>
                <a:cs typeface="Arial"/>
              </a:defRPr>
            </a:lvl1pPr>
            <a:lvl2pPr>
              <a:defRPr sz="1875" b="0">
                <a:solidFill>
                  <a:srgbClr val="596574"/>
                </a:solidFill>
                <a:latin typeface="Arial"/>
                <a:ea typeface="Arial"/>
                <a:cs typeface="Arial"/>
              </a:defRPr>
            </a:lvl2pPr>
            <a:lvl3pPr>
              <a:defRPr sz="1875" b="0">
                <a:solidFill>
                  <a:srgbClr val="596574"/>
                </a:solidFill>
                <a:latin typeface="Arial"/>
                <a:ea typeface="Arial"/>
                <a:cs typeface="Arial"/>
              </a:defRPr>
            </a:lvl3pPr>
            <a:lvl4pPr>
              <a:defRPr sz="1875" b="0">
                <a:solidFill>
                  <a:srgbClr val="596574"/>
                </a:solidFill>
                <a:latin typeface="Arial"/>
                <a:ea typeface="Arial"/>
                <a:cs typeface="Arial"/>
              </a:defRPr>
            </a:lvl4pPr>
            <a:lvl5pPr>
              <a:defRPr sz="1875" b="0">
                <a:solidFill>
                  <a:srgbClr val="596574"/>
                </a:solidFill>
                <a:latin typeface="Arial"/>
                <a:ea typeface="Arial"/>
                <a:cs typeface="Arial"/>
              </a:defRPr>
            </a:lvl5pPr>
            <a:lvl6pPr>
              <a:defRPr sz="1875" b="0">
                <a:solidFill>
                  <a:srgbClr val="596574"/>
                </a:solidFill>
                <a:latin typeface="Arial"/>
                <a:ea typeface="Arial"/>
                <a:cs typeface="Arial"/>
              </a:defRPr>
            </a:lvl6pPr>
            <a:lvl7pPr>
              <a:defRPr sz="1875" b="0">
                <a:solidFill>
                  <a:srgbClr val="596574"/>
                </a:solidFill>
                <a:latin typeface="Arial"/>
                <a:ea typeface="Arial"/>
                <a:cs typeface="Arial"/>
              </a:defRPr>
            </a:lvl7pPr>
            <a:lvl8pPr>
              <a:defRPr sz="1875" b="0">
                <a:solidFill>
                  <a:srgbClr val="596574"/>
                </a:solidFill>
                <a:latin typeface="Arial"/>
                <a:ea typeface="Arial"/>
                <a:cs typeface="Arial"/>
              </a:defRPr>
            </a:lvl8pPr>
            <a:lvl9pPr>
              <a:defRPr sz="1875" b="0">
                <a:solidFill>
                  <a:srgbClr val="596574"/>
                </a:solidFill>
                <a:latin typeface="Arial"/>
                <a:ea typeface="Arial"/>
                <a:cs typeface="Arial"/>
              </a:defRPr>
            </a:lvl9pPr>
          </a:lstStyle>
          <a:p xmlns:a="http://schemas.openxmlformats.org/drawingml/2006/main">
            <a:pPr>
              <a:defRPr sz="1875" b="0">
                <a:solidFill>
                  <a:srgbClr val="596574"/>
                </a:solidFill>
                <a:latin typeface="Arial"/>
                <a:ea typeface="Arial"/>
                <a:cs typeface="Arial"/>
              </a:defRPr>
            </a:pPr>
            <a:r>
              <a:rPr sz="1875" b="0">
                <a:solidFill>
                  <a:srgbClr val="596574"/>
                </a:solidFill>
                <a:latin typeface="Arial"/>
                <a:ea typeface="Arial"/>
                <a:cs typeface="Arial"/>
              </a:rPr>
              <a:t>Lag adds or subtracts working minutes. A zero-duration task marks a milestone.</a:t>
            </a:r>
          </a:p>
        </p:txBody>
      </p:sp>
    </p:spTree>
    <p:extLst>
      <p:ext uri="{BB962C8B-B14F-4D97-AF65-F5344CB8AC3E}">
        <p14:creationId xmlns:p14="http://schemas.microsoft.com/office/powerpoint/2010/main" val="193305360"/>
      </p:ext>
    </p:extLst>
  </p:cSld>
</p:sld>
</file>

<file path=ppt/slides/slide8.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06C7813-A9A0-49F2-A84A-87CA45750D03}"/>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The Gantt chart</a:t>
            </a:r>
          </a:p>
        </p:txBody>
      </p:sp>
      <p:sp>
        <p:nvSpPr>
          <p:cNvPr id="3" name="">
            <a:extLst xmlns:a="http://schemas.openxmlformats.org/drawingml/2006/main">
              <a:ext uri="{FF2B5EF4-FFF2-40B4-BE49-F238E27FC236}">
                <a16:creationId xmlns:a16="http://schemas.microsoft.com/office/drawing/2014/main" id="{B4695CC2-C0AC-4E6F-9ECF-2A1352584744}"/>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81F75A0E-6E5F-4D92-9FCE-6EFF52585D25}"/>
              </a:ext>
            </a:extLst>
          </p:cNvPr>
          <p:cNvSpPr>
            <a:spLocks xmlns:a="http://schemas.openxmlformats.org/drawingml/2006/main" noGrp="1"/>
          </p:cNvSpPr>
          <p:nvPr/>
        </p:nvSpPr>
        <p:spPr>
          <a:xfrm xmlns:a="http://schemas.openxmlformats.org/drawingml/2006/main">
            <a:off x="7620000" y="157162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Bars and diamonds</a:t>
            </a:r>
          </a:p>
        </p:txBody>
      </p:sp>
      <p:sp>
        <p:nvSpPr>
          <p:cNvPr id="5" name="">
            <a:extLst xmlns:a="http://schemas.openxmlformats.org/drawingml/2006/main">
              <a:ext uri="{FF2B5EF4-FFF2-40B4-BE49-F238E27FC236}">
                <a16:creationId xmlns:a16="http://schemas.microsoft.com/office/drawing/2014/main" id="{C4EAFA8D-5380-40B0-B944-EABA9E9AD4BD}"/>
              </a:ext>
            </a:extLst>
          </p:cNvPr>
          <p:cNvSpPr>
            <a:spLocks xmlns:a="http://schemas.openxmlformats.org/drawingml/2006/main" noGrp="1"/>
          </p:cNvSpPr>
          <p:nvPr/>
        </p:nvSpPr>
        <p:spPr>
          <a:xfrm xmlns:a="http://schemas.openxmlformats.org/drawingml/2006/main">
            <a:off x="7620000" y="19812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Bars show scheduled work. Diamonds mark milestones.</a:t>
            </a:r>
          </a:p>
        </p:txBody>
      </p:sp>
      <p:sp>
        <p:nvSpPr>
          <p:cNvPr id="6" name="">
            <a:extLst xmlns:a="http://schemas.openxmlformats.org/drawingml/2006/main">
              <a:ext uri="{FF2B5EF4-FFF2-40B4-BE49-F238E27FC236}">
                <a16:creationId xmlns:a16="http://schemas.microsoft.com/office/drawing/2014/main" id="{8512CFC1-D2B8-4180-873B-5422338CFEB0}"/>
              </a:ext>
            </a:extLst>
          </p:cNvPr>
          <p:cNvSpPr>
            <a:spLocks xmlns:a="http://schemas.openxmlformats.org/drawingml/2006/main" noGrp="1"/>
          </p:cNvSpPr>
          <p:nvPr/>
        </p:nvSpPr>
        <p:spPr>
          <a:xfrm xmlns:a="http://schemas.openxmlformats.org/drawingml/2006/main">
            <a:off x="7620000" y="307657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Dependencies and float</a:t>
            </a:r>
          </a:p>
        </p:txBody>
      </p:sp>
      <p:sp>
        <p:nvSpPr>
          <p:cNvPr id="7" name="">
            <a:extLst xmlns:a="http://schemas.openxmlformats.org/drawingml/2006/main">
              <a:ext uri="{FF2B5EF4-FFF2-40B4-BE49-F238E27FC236}">
                <a16:creationId xmlns:a16="http://schemas.microsoft.com/office/drawing/2014/main" id="{B6BEF6FA-0205-4D57-9D4E-91FF73A141FA}"/>
              </a:ext>
            </a:extLst>
          </p:cNvPr>
          <p:cNvSpPr>
            <a:spLocks xmlns:a="http://schemas.openxmlformats.org/drawingml/2006/main" noGrp="1"/>
          </p:cNvSpPr>
          <p:nvPr/>
        </p:nvSpPr>
        <p:spPr>
          <a:xfrm xmlns:a="http://schemas.openxmlformats.org/drawingml/2006/main">
            <a:off x="7620000" y="34861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Links show sequence. Gray extensions show scheduling flexibility.</a:t>
            </a:r>
          </a:p>
        </p:txBody>
      </p:sp>
      <p:sp>
        <p:nvSpPr>
          <p:cNvPr id="8" name="">
            <a:extLst xmlns:a="http://schemas.openxmlformats.org/drawingml/2006/main">
              <a:ext uri="{FF2B5EF4-FFF2-40B4-BE49-F238E27FC236}">
                <a16:creationId xmlns:a16="http://schemas.microsoft.com/office/drawing/2014/main" id="{26B88EEE-D4C5-4845-B3AD-2B90CBF5DCAC}"/>
              </a:ext>
            </a:extLst>
          </p:cNvPr>
          <p:cNvSpPr>
            <a:spLocks xmlns:a="http://schemas.openxmlformats.org/drawingml/2006/main" noGrp="1"/>
          </p:cNvSpPr>
          <p:nvPr/>
        </p:nvSpPr>
        <p:spPr>
          <a:xfrm xmlns:a="http://schemas.openxmlformats.org/drawingml/2006/main">
            <a:off x="7620000" y="458152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Recalculate and export</a:t>
            </a:r>
          </a:p>
        </p:txBody>
      </p:sp>
      <p:sp>
        <p:nvSpPr>
          <p:cNvPr id="9" name="">
            <a:extLst xmlns:a="http://schemas.openxmlformats.org/drawingml/2006/main">
              <a:ext uri="{FF2B5EF4-FFF2-40B4-BE49-F238E27FC236}">
                <a16:creationId xmlns:a16="http://schemas.microsoft.com/office/drawing/2014/main" id="{528CB810-AF80-4299-866C-24B320B33574}"/>
              </a:ext>
            </a:extLst>
          </p:cNvPr>
          <p:cNvSpPr>
            <a:spLocks xmlns:a="http://schemas.openxmlformats.org/drawingml/2006/main" noGrp="1"/>
          </p:cNvSpPr>
          <p:nvPr/>
        </p:nvSpPr>
        <p:spPr>
          <a:xfrm xmlns:a="http://schemas.openxmlformats.org/drawingml/2006/main">
            <a:off x="7620000" y="49911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Refresh the schedule or download an ICS calendar.</a:t>
            </a:r>
          </a:p>
        </p:txBody>
      </p:sp>
      <p:pic>
        <p:nvPicPr>
          <p:cNvPr id="10" name="">
            <a:extLst xmlns:a="http://schemas.openxmlformats.org/drawingml/2006/main">
              <a:ext uri="{FF2B5EF4-FFF2-40B4-BE49-F238E27FC236}">
                <a16:creationId xmlns:a16="http://schemas.microsoft.com/office/drawing/2014/main" id="{9B4B4F3E-C4BB-4246-9819-B5A6377036E9}"/>
              </a:ext>
            </a:extLst>
          </p:cNvPr>
          <p:cNvPicPr>
            <a:picLocks xmlns:a="http://schemas.openxmlformats.org/drawingml/2006/main" noChangeAspect="1"/>
          </p:cNvPicPr>
          <p:nvPr/>
        </p:nvPicPr>
        <p:blipFill>
          <a:blip xmlns:r="http://schemas.openxmlformats.org/officeDocument/2006/relationships" xmlns:a="http://schemas.openxmlformats.org/drawingml/2006/main" r:embed="R4c932622ea77456c"/>
          <a:stretch xmlns:a="http://schemas.openxmlformats.org/drawingml/2006/main"/>
        </p:blipFill>
        <p:spPr>
          <a:xfrm xmlns:a="http://schemas.openxmlformats.org/drawingml/2006/main">
            <a:off x="609600" y="1381975"/>
            <a:ext cx="6572250" cy="5046549"/>
          </a:xfrm>
          <a:prstGeom xmlns:a="http://schemas.openxmlformats.org/drawingml/2006/main" prst="rect">
            <a:avLst/>
          </a:prstGeom>
        </p:spPr>
      </p:pic>
    </p:spTree>
    <p:extLst>
      <p:ext uri="{BB962C8B-B14F-4D97-AF65-F5344CB8AC3E}">
        <p14:creationId xmlns:p14="http://schemas.microsoft.com/office/powerpoint/2010/main" val="494260293"/>
      </p:ext>
    </p:extLst>
  </p:cSld>
</p:sld>
</file>

<file path=ppt/slides/slide9.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6CB524-A857-4DB1-8C11-99947C34DF0F}"/>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Project settings and calendars</a:t>
            </a:r>
          </a:p>
        </p:txBody>
      </p:sp>
      <p:sp>
        <p:nvSpPr>
          <p:cNvPr id="3" name="">
            <a:extLst xmlns:a="http://schemas.openxmlformats.org/drawingml/2006/main">
              <a:ext uri="{FF2B5EF4-FFF2-40B4-BE49-F238E27FC236}">
                <a16:creationId xmlns:a16="http://schemas.microsoft.com/office/drawing/2014/main" id="{23FEAF38-5EE8-4197-9F24-A107BD2D6580}"/>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2C416E45-1D3C-4375-B92D-EAC6239D9947}"/>
              </a:ext>
            </a:extLst>
          </p:cNvPr>
          <p:cNvSpPr>
            <a:spLocks xmlns:a="http://schemas.openxmlformats.org/drawingml/2006/main" noGrp="1"/>
          </p:cNvSpPr>
          <p:nvPr/>
        </p:nvSpPr>
        <p:spPr>
          <a:xfrm xmlns:a="http://schemas.openxmlformats.org/drawingml/2006/main">
            <a:off x="8572500" y="200025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Project dates</a:t>
            </a:r>
          </a:p>
        </p:txBody>
      </p:sp>
      <p:sp>
        <p:nvSpPr>
          <p:cNvPr id="5" name="">
            <a:extLst xmlns:a="http://schemas.openxmlformats.org/drawingml/2006/main">
              <a:ext uri="{FF2B5EF4-FFF2-40B4-BE49-F238E27FC236}">
                <a16:creationId xmlns:a16="http://schemas.microsoft.com/office/drawing/2014/main" id="{D986B2E6-2ADF-4C50-B885-1F0D926A931F}"/>
              </a:ext>
            </a:extLst>
          </p:cNvPr>
          <p:cNvSpPr>
            <a:spLocks xmlns:a="http://schemas.openxmlformats.org/drawingml/2006/main" noGrp="1"/>
          </p:cNvSpPr>
          <p:nvPr/>
        </p:nvSpPr>
        <p:spPr>
          <a:xfrm xmlns:a="http://schemas.openxmlformats.org/drawingml/2006/main">
            <a:off x="8572500" y="24098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Set a start date and optional target finish.</a:t>
            </a:r>
          </a:p>
        </p:txBody>
      </p:sp>
      <p:sp>
        <p:nvSpPr>
          <p:cNvPr id="6" name="">
            <a:extLst xmlns:a="http://schemas.openxmlformats.org/drawingml/2006/main">
              <a:ext uri="{FF2B5EF4-FFF2-40B4-BE49-F238E27FC236}">
                <a16:creationId xmlns:a16="http://schemas.microsoft.com/office/drawing/2014/main" id="{C67C9276-3BC0-4EB6-B417-ACF0C6ACB103}"/>
              </a:ext>
            </a:extLst>
          </p:cNvPr>
          <p:cNvSpPr>
            <a:spLocks xmlns:a="http://schemas.openxmlformats.org/drawingml/2006/main" noGrp="1"/>
          </p:cNvSpPr>
          <p:nvPr/>
        </p:nvSpPr>
        <p:spPr>
          <a:xfrm xmlns:a="http://schemas.openxmlformats.org/drawingml/2006/main">
            <a:off x="8572500" y="38100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Working hours</a:t>
            </a:r>
          </a:p>
        </p:txBody>
      </p:sp>
      <p:sp>
        <p:nvSpPr>
          <p:cNvPr id="7" name="">
            <a:extLst xmlns:a="http://schemas.openxmlformats.org/drawingml/2006/main">
              <a:ext uri="{FF2B5EF4-FFF2-40B4-BE49-F238E27FC236}">
                <a16:creationId xmlns:a16="http://schemas.microsoft.com/office/drawing/2014/main" id="{441601DB-BF9B-4404-B461-B4C41FB2241A}"/>
              </a:ext>
            </a:extLst>
          </p:cNvPr>
          <p:cNvSpPr>
            <a:spLocks xmlns:a="http://schemas.openxmlformats.org/drawingml/2006/main" noGrp="1"/>
          </p:cNvSpPr>
          <p:nvPr/>
        </p:nvSpPr>
        <p:spPr>
          <a:xfrm xmlns:a="http://schemas.openxmlformats.org/drawingml/2006/main">
            <a:off x="8572500" y="42195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Choose the timezone and active weekday intervals.</a:t>
            </a:r>
          </a:p>
        </p:txBody>
      </p:sp>
      <p:pic>
        <p:nvPicPr>
          <p:cNvPr id="8" name="">
            <a:extLst xmlns:a="http://schemas.openxmlformats.org/drawingml/2006/main">
              <a:ext uri="{FF2B5EF4-FFF2-40B4-BE49-F238E27FC236}">
                <a16:creationId xmlns:a16="http://schemas.microsoft.com/office/drawing/2014/main" id="{9291135B-0817-4EE0-817B-907B52ABCD76}"/>
              </a:ext>
            </a:extLst>
          </p:cNvPr>
          <p:cNvPicPr>
            <a:picLocks xmlns:a="http://schemas.openxmlformats.org/drawingml/2006/main" noChangeAspect="1"/>
          </p:cNvPicPr>
          <p:nvPr/>
        </p:nvPicPr>
        <p:blipFill>
          <a:blip xmlns:r="http://schemas.openxmlformats.org/officeDocument/2006/relationships" xmlns:a="http://schemas.openxmlformats.org/drawingml/2006/main" r:embed="Rf6380cbdbe554ec0"/>
          <a:stretch xmlns:a="http://schemas.openxmlformats.org/drawingml/2006/main"/>
        </p:blipFill>
        <p:spPr>
          <a:xfrm xmlns:a="http://schemas.openxmlformats.org/drawingml/2006/main">
            <a:off x="874395" y="1381125"/>
            <a:ext cx="6995160" cy="4857750"/>
          </a:xfrm>
          <a:prstGeom xmlns:a="http://schemas.openxmlformats.org/drawingml/2006/main" prst="rect">
            <a:avLst/>
          </a:prstGeom>
        </p:spPr>
      </p:pic>
    </p:spTree>
    <p:extLst>
      <p:ext uri="{BB962C8B-B14F-4D97-AF65-F5344CB8AC3E}">
        <p14:creationId xmlns:p14="http://schemas.microsoft.com/office/powerpoint/2010/main" val="312815368"/>
      </p:ext>
    </p:extLst>
  </p:cSld>
</p:sld>
</file>

<file path=ppt/slides/slide10.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7831A7C-FD59-43E6-AE43-5B720931CCB3}"/>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Compact analytics with pandas and NumPy</a:t>
            </a:r>
          </a:p>
        </p:txBody>
      </p:sp>
      <p:sp>
        <p:nvSpPr>
          <p:cNvPr id="3" name="">
            <a:extLst xmlns:a="http://schemas.openxmlformats.org/drawingml/2006/main">
              <a:ext uri="{FF2B5EF4-FFF2-40B4-BE49-F238E27FC236}">
                <a16:creationId xmlns:a16="http://schemas.microsoft.com/office/drawing/2014/main" id="{5CC8692A-22B9-41FD-B61A-978D4C826DD6}"/>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10</a:t>
            </a:r>
          </a:p>
        </p:txBody>
      </p:sp>
      <p:graphicFrame>
        <p:nvGraphicFramePr>
          <p:cNvPr id="4" name="Chart">
            <a:extLst xmlns:a="http://schemas.openxmlformats.org/drawingml/2006/main">
              <a:ext uri="{FF2B5EF4-FFF2-40B4-BE49-F238E27FC236}">
                <a16:creationId xmlns:a16="http://schemas.microsoft.com/office/drawing/2014/main" id="{6A0FC6AF-C3A7-4348-B471-F576BE76F226}"/>
              </a:ext>
            </a:extLst>
          </p:cNvPr>
          <p:cNvGraphicFramePr/>
          <p:nvPr/>
        </p:nvGraphicFramePr>
        <p:xfrm>
          <a:off xmlns:a="http://schemas.openxmlformats.org/drawingml/2006/main" x="609600" y="1714500"/>
          <a:ext xmlns:a="http://schemas.openxmlformats.org/drawingml/2006/main" cx="5905500" cy="3810000"/>
        </p:xfrm>
        <a:graphic xmlns:a="http://schemas.openxmlformats.org/drawingml/2006/main">
          <a:graphicData uri="http://schemas.openxmlformats.org/drawingml/2006/chart">
            <c:chart xmlns:r="http://schemas.openxmlformats.org/officeDocument/2006/relationships" xmlns:c="http://schemas.openxmlformats.org/drawingml/2006/chart" r:id="R40849c11f7af4ccb"/>
          </a:graphicData>
        </a:graphic>
      </p:graphicFrame>
      <p:sp>
        <p:nvSpPr>
          <p:cNvPr id="5" name="">
            <a:extLst xmlns:a="http://schemas.openxmlformats.org/drawingml/2006/main">
              <a:ext uri="{FF2B5EF4-FFF2-40B4-BE49-F238E27FC236}">
                <a16:creationId xmlns:a16="http://schemas.microsoft.com/office/drawing/2014/main" id="{632828A2-0895-44F0-8B55-6E2FB9FDFFFB}"/>
              </a:ext>
            </a:extLst>
          </p:cNvPr>
          <p:cNvSpPr>
            <a:spLocks xmlns:a="http://schemas.openxmlformats.org/drawingml/2006/main" noGrp="1"/>
          </p:cNvSpPr>
          <p:nvPr/>
        </p:nvSpPr>
        <p:spPr>
          <a:xfrm xmlns:a="http://schemas.openxmlformats.org/drawingml/2006/main">
            <a:off x="7048500" y="1714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06EDB"/>
                </a:solidFill>
                <a:latin typeface="Arial"/>
                <a:ea typeface="Arial"/>
                <a:cs typeface="Arial"/>
              </a:defRPr>
            </a:defPPr>
            <a:lvl1pPr>
              <a:defRPr sz="3150" b="1">
                <a:solidFill>
                  <a:srgbClr val="006EDB"/>
                </a:solidFill>
                <a:latin typeface="Arial"/>
                <a:ea typeface="Arial"/>
                <a:cs typeface="Arial"/>
              </a:defRPr>
            </a:lvl1pPr>
            <a:lvl2pPr>
              <a:defRPr sz="3150" b="1">
                <a:solidFill>
                  <a:srgbClr val="006EDB"/>
                </a:solidFill>
                <a:latin typeface="Arial"/>
                <a:ea typeface="Arial"/>
                <a:cs typeface="Arial"/>
              </a:defRPr>
            </a:lvl2pPr>
            <a:lvl3pPr>
              <a:defRPr sz="3150" b="1">
                <a:solidFill>
                  <a:srgbClr val="006EDB"/>
                </a:solidFill>
                <a:latin typeface="Arial"/>
                <a:ea typeface="Arial"/>
                <a:cs typeface="Arial"/>
              </a:defRPr>
            </a:lvl3pPr>
            <a:lvl4pPr>
              <a:defRPr sz="3150" b="1">
                <a:solidFill>
                  <a:srgbClr val="006EDB"/>
                </a:solidFill>
                <a:latin typeface="Arial"/>
                <a:ea typeface="Arial"/>
                <a:cs typeface="Arial"/>
              </a:defRPr>
            </a:lvl4pPr>
            <a:lvl5pPr>
              <a:defRPr sz="3150" b="1">
                <a:solidFill>
                  <a:srgbClr val="006EDB"/>
                </a:solidFill>
                <a:latin typeface="Arial"/>
                <a:ea typeface="Arial"/>
                <a:cs typeface="Arial"/>
              </a:defRPr>
            </a:lvl5pPr>
            <a:lvl6pPr>
              <a:defRPr sz="3150" b="1">
                <a:solidFill>
                  <a:srgbClr val="006EDB"/>
                </a:solidFill>
                <a:latin typeface="Arial"/>
                <a:ea typeface="Arial"/>
                <a:cs typeface="Arial"/>
              </a:defRPr>
            </a:lvl6pPr>
            <a:lvl7pPr>
              <a:defRPr sz="3150" b="1">
                <a:solidFill>
                  <a:srgbClr val="006EDB"/>
                </a:solidFill>
                <a:latin typeface="Arial"/>
                <a:ea typeface="Arial"/>
                <a:cs typeface="Arial"/>
              </a:defRPr>
            </a:lvl7pPr>
            <a:lvl8pPr>
              <a:defRPr sz="3150" b="1">
                <a:solidFill>
                  <a:srgbClr val="006EDB"/>
                </a:solidFill>
                <a:latin typeface="Arial"/>
                <a:ea typeface="Arial"/>
                <a:cs typeface="Arial"/>
              </a:defRPr>
            </a:lvl8pPr>
            <a:lvl9pPr>
              <a:defRPr sz="3150" b="1">
                <a:solidFill>
                  <a:srgbClr val="006EDB"/>
                </a:solidFill>
                <a:latin typeface="Arial"/>
                <a:ea typeface="Arial"/>
                <a:cs typeface="Arial"/>
              </a:defRPr>
            </a:lvl9pPr>
          </a:lstStyle>
          <a:p xmlns:a="http://schemas.openxmlformats.org/drawingml/2006/main">
            <a:pPr>
              <a:defRPr sz="3150" b="1">
                <a:solidFill>
                  <a:srgbClr val="006EDB"/>
                </a:solidFill>
                <a:latin typeface="Arial"/>
                <a:ea typeface="Arial"/>
                <a:cs typeface="Arial"/>
              </a:defRPr>
            </a:pPr>
            <a:r>
              <a:rPr sz="3150" b="1">
                <a:solidFill>
                  <a:srgbClr val="006EDB"/>
                </a:solidFill>
                <a:latin typeface="Arial"/>
                <a:ea typeface="Arial"/>
                <a:cs typeface="Arial"/>
              </a:rPr>
              <a:t>22.22% complete</a:t>
            </a:r>
          </a:p>
        </p:txBody>
      </p:sp>
      <p:sp>
        <p:nvSpPr>
          <p:cNvPr id="6" name="">
            <a:extLst xmlns:a="http://schemas.openxmlformats.org/drawingml/2006/main">
              <a:ext uri="{FF2B5EF4-FFF2-40B4-BE49-F238E27FC236}">
                <a16:creationId xmlns:a16="http://schemas.microsoft.com/office/drawing/2014/main" id="{0EE8DB81-2314-4D16-8754-E91B20B6CB29}"/>
              </a:ext>
            </a:extLst>
          </p:cNvPr>
          <p:cNvSpPr>
            <a:spLocks xmlns:a="http://schemas.openxmlformats.org/drawingml/2006/main" noGrp="1"/>
          </p:cNvSpPr>
          <p:nvPr/>
        </p:nvSpPr>
        <p:spPr>
          <a:xfrm xmlns:a="http://schemas.openxmlformats.org/drawingml/2006/main">
            <a:off x="7048500" y="23812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02B"/>
                </a:solidFill>
                <a:latin typeface="Arial"/>
                <a:ea typeface="Arial"/>
                <a:cs typeface="Arial"/>
              </a:defRPr>
            </a:defPPr>
            <a:lvl1pPr>
              <a:defRPr sz="1950" b="0">
                <a:solidFill>
                  <a:srgbClr val="17202B"/>
                </a:solidFill>
                <a:latin typeface="Arial"/>
                <a:ea typeface="Arial"/>
                <a:cs typeface="Arial"/>
              </a:defRPr>
            </a:lvl1pPr>
            <a:lvl2pPr>
              <a:defRPr sz="1950" b="0">
                <a:solidFill>
                  <a:srgbClr val="17202B"/>
                </a:solidFill>
                <a:latin typeface="Arial"/>
                <a:ea typeface="Arial"/>
                <a:cs typeface="Arial"/>
              </a:defRPr>
            </a:lvl2pPr>
            <a:lvl3pPr>
              <a:defRPr sz="1950" b="0">
                <a:solidFill>
                  <a:srgbClr val="17202B"/>
                </a:solidFill>
                <a:latin typeface="Arial"/>
                <a:ea typeface="Arial"/>
                <a:cs typeface="Arial"/>
              </a:defRPr>
            </a:lvl3pPr>
            <a:lvl4pPr>
              <a:defRPr sz="1950" b="0">
                <a:solidFill>
                  <a:srgbClr val="17202B"/>
                </a:solidFill>
                <a:latin typeface="Arial"/>
                <a:ea typeface="Arial"/>
                <a:cs typeface="Arial"/>
              </a:defRPr>
            </a:lvl4pPr>
            <a:lvl5pPr>
              <a:defRPr sz="1950" b="0">
                <a:solidFill>
                  <a:srgbClr val="17202B"/>
                </a:solidFill>
                <a:latin typeface="Arial"/>
                <a:ea typeface="Arial"/>
                <a:cs typeface="Arial"/>
              </a:defRPr>
            </a:lvl5pPr>
            <a:lvl6pPr>
              <a:defRPr sz="1950" b="0">
                <a:solidFill>
                  <a:srgbClr val="17202B"/>
                </a:solidFill>
                <a:latin typeface="Arial"/>
                <a:ea typeface="Arial"/>
                <a:cs typeface="Arial"/>
              </a:defRPr>
            </a:lvl6pPr>
            <a:lvl7pPr>
              <a:defRPr sz="1950" b="0">
                <a:solidFill>
                  <a:srgbClr val="17202B"/>
                </a:solidFill>
                <a:latin typeface="Arial"/>
                <a:ea typeface="Arial"/>
                <a:cs typeface="Arial"/>
              </a:defRPr>
            </a:lvl7pPr>
            <a:lvl8pPr>
              <a:defRPr sz="1950" b="0">
                <a:solidFill>
                  <a:srgbClr val="17202B"/>
                </a:solidFill>
                <a:latin typeface="Arial"/>
                <a:ea typeface="Arial"/>
                <a:cs typeface="Arial"/>
              </a:defRPr>
            </a:lvl8pPr>
            <a:lvl9pPr>
              <a:defRPr sz="1950" b="0">
                <a:solidFill>
                  <a:srgbClr val="17202B"/>
                </a:solidFill>
                <a:latin typeface="Arial"/>
                <a:ea typeface="Arial"/>
                <a:cs typeface="Arial"/>
              </a:defRPr>
            </a:lvl9pPr>
          </a:lstStyle>
          <a:p xmlns:a="http://schemas.openxmlformats.org/drawingml/2006/main">
            <a:pPr>
              <a:defRPr sz="1950" b="0">
                <a:solidFill>
                  <a:srgbClr val="17202B"/>
                </a:solidFill>
                <a:latin typeface="Arial"/>
                <a:ea typeface="Arial"/>
                <a:cs typeface="Arial"/>
              </a:defRPr>
            </a:pPr>
            <a:r>
              <a:rPr sz="1950" b="0">
                <a:solidFill>
                  <a:srgbClr val="17202B"/>
                </a:solidFill>
                <a:latin typeface="Arial"/>
                <a:ea typeface="Arial"/>
                <a:cs typeface="Arial"/>
              </a:rPr>
              <a:t>4 completed tasks out of 18</a:t>
            </a:r>
          </a:p>
        </p:txBody>
      </p:sp>
      <p:sp>
        <p:nvSpPr>
          <p:cNvPr id="7" name="">
            <a:extLst xmlns:a="http://schemas.openxmlformats.org/drawingml/2006/main">
              <a:ext uri="{FF2B5EF4-FFF2-40B4-BE49-F238E27FC236}">
                <a16:creationId xmlns:a16="http://schemas.microsoft.com/office/drawing/2014/main" id="{BFD7DA64-CF2F-4845-B409-68D535967268}"/>
              </a:ext>
            </a:extLst>
          </p:cNvPr>
          <p:cNvSpPr>
            <a:spLocks xmlns:a="http://schemas.openxmlformats.org/drawingml/2006/main" noGrp="1"/>
          </p:cNvSpPr>
          <p:nvPr/>
        </p:nvSpPr>
        <p:spPr>
          <a:xfrm xmlns:a="http://schemas.openxmlformats.org/drawingml/2006/main">
            <a:off x="7048500" y="33813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02B"/>
                </a:solidFill>
                <a:latin typeface="Arial"/>
                <a:ea typeface="Arial"/>
                <a:cs typeface="Arial"/>
              </a:defRPr>
            </a:defPPr>
            <a:lvl1pPr>
              <a:defRPr sz="2100" b="1">
                <a:solidFill>
                  <a:srgbClr val="17202B"/>
                </a:solidFill>
                <a:latin typeface="Arial"/>
                <a:ea typeface="Arial"/>
                <a:cs typeface="Arial"/>
              </a:defRPr>
            </a:lvl1pPr>
            <a:lvl2pPr>
              <a:defRPr sz="2100" b="1">
                <a:solidFill>
                  <a:srgbClr val="17202B"/>
                </a:solidFill>
                <a:latin typeface="Arial"/>
                <a:ea typeface="Arial"/>
                <a:cs typeface="Arial"/>
              </a:defRPr>
            </a:lvl2pPr>
            <a:lvl3pPr>
              <a:defRPr sz="2100" b="1">
                <a:solidFill>
                  <a:srgbClr val="17202B"/>
                </a:solidFill>
                <a:latin typeface="Arial"/>
                <a:ea typeface="Arial"/>
                <a:cs typeface="Arial"/>
              </a:defRPr>
            </a:lvl3pPr>
            <a:lvl4pPr>
              <a:defRPr sz="2100" b="1">
                <a:solidFill>
                  <a:srgbClr val="17202B"/>
                </a:solidFill>
                <a:latin typeface="Arial"/>
                <a:ea typeface="Arial"/>
                <a:cs typeface="Arial"/>
              </a:defRPr>
            </a:lvl4pPr>
            <a:lvl5pPr>
              <a:defRPr sz="2100" b="1">
                <a:solidFill>
                  <a:srgbClr val="17202B"/>
                </a:solidFill>
                <a:latin typeface="Arial"/>
                <a:ea typeface="Arial"/>
                <a:cs typeface="Arial"/>
              </a:defRPr>
            </a:lvl5pPr>
            <a:lvl6pPr>
              <a:defRPr sz="2100" b="1">
                <a:solidFill>
                  <a:srgbClr val="17202B"/>
                </a:solidFill>
                <a:latin typeface="Arial"/>
                <a:ea typeface="Arial"/>
                <a:cs typeface="Arial"/>
              </a:defRPr>
            </a:lvl6pPr>
            <a:lvl7pPr>
              <a:defRPr sz="2100" b="1">
                <a:solidFill>
                  <a:srgbClr val="17202B"/>
                </a:solidFill>
                <a:latin typeface="Arial"/>
                <a:ea typeface="Arial"/>
                <a:cs typeface="Arial"/>
              </a:defRPr>
            </a:lvl7pPr>
            <a:lvl8pPr>
              <a:defRPr sz="2100" b="1">
                <a:solidFill>
                  <a:srgbClr val="17202B"/>
                </a:solidFill>
                <a:latin typeface="Arial"/>
                <a:ea typeface="Arial"/>
                <a:cs typeface="Arial"/>
              </a:defRPr>
            </a:lvl8pPr>
            <a:lvl9pPr>
              <a:defRPr sz="2100" b="1">
                <a:solidFill>
                  <a:srgbClr val="17202B"/>
                </a:solidFill>
                <a:latin typeface="Arial"/>
                <a:ea typeface="Arial"/>
                <a:cs typeface="Arial"/>
              </a:defRPr>
            </a:lvl9pPr>
          </a:lstStyle>
          <a:p xmlns:a="http://schemas.openxmlformats.org/drawingml/2006/main">
            <a:pPr>
              <a:defRPr sz="2100" b="1">
                <a:solidFill>
                  <a:srgbClr val="17202B"/>
                </a:solidFill>
                <a:latin typeface="Arial"/>
                <a:ea typeface="Arial"/>
                <a:cs typeface="Arial"/>
              </a:defRPr>
            </a:pPr>
            <a:r>
              <a:rPr sz="2100" b="1">
                <a:solidFill>
                  <a:srgbClr val="17202B"/>
                </a:solidFill>
                <a:latin typeface="Arial"/>
                <a:ea typeface="Arial"/>
                <a:cs typeface="Arial"/>
              </a:rPr>
              <a:t>Positive-duration tasks</a:t>
            </a:r>
          </a:p>
        </p:txBody>
      </p:sp>
      <p:sp>
        <p:nvSpPr>
          <p:cNvPr id="8" name="">
            <a:extLst xmlns:a="http://schemas.openxmlformats.org/drawingml/2006/main">
              <a:ext uri="{FF2B5EF4-FFF2-40B4-BE49-F238E27FC236}">
                <a16:creationId xmlns:a16="http://schemas.microsoft.com/office/drawing/2014/main" id="{86A4D00D-F64B-435A-AD46-899E5C6DB351}"/>
              </a:ext>
            </a:extLst>
          </p:cNvPr>
          <p:cNvSpPr>
            <a:spLocks xmlns:a="http://schemas.openxmlformats.org/drawingml/2006/main" noGrp="1"/>
          </p:cNvSpPr>
          <p:nvPr/>
        </p:nvSpPr>
        <p:spPr>
          <a:xfrm xmlns:a="http://schemas.openxmlformats.org/drawingml/2006/main">
            <a:off x="7048500" y="3905250"/>
            <a:ext cx="4476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02B"/>
                </a:solidFill>
                <a:latin typeface="Arial"/>
                <a:ea typeface="Arial"/>
                <a:cs typeface="Arial"/>
              </a:defRPr>
            </a:defPPr>
            <a:lvl1pPr>
              <a:defRPr sz="2100" b="0">
                <a:solidFill>
                  <a:srgbClr val="17202B"/>
                </a:solidFill>
                <a:latin typeface="Arial"/>
                <a:ea typeface="Arial"/>
                <a:cs typeface="Arial"/>
              </a:defRPr>
            </a:lvl1pPr>
            <a:lvl2pPr>
              <a:defRPr sz="2100" b="0">
                <a:solidFill>
                  <a:srgbClr val="17202B"/>
                </a:solidFill>
                <a:latin typeface="Arial"/>
                <a:ea typeface="Arial"/>
                <a:cs typeface="Arial"/>
              </a:defRPr>
            </a:lvl2pPr>
            <a:lvl3pPr>
              <a:defRPr sz="2100" b="0">
                <a:solidFill>
                  <a:srgbClr val="17202B"/>
                </a:solidFill>
                <a:latin typeface="Arial"/>
                <a:ea typeface="Arial"/>
                <a:cs typeface="Arial"/>
              </a:defRPr>
            </a:lvl3pPr>
            <a:lvl4pPr>
              <a:defRPr sz="2100" b="0">
                <a:solidFill>
                  <a:srgbClr val="17202B"/>
                </a:solidFill>
                <a:latin typeface="Arial"/>
                <a:ea typeface="Arial"/>
                <a:cs typeface="Arial"/>
              </a:defRPr>
            </a:lvl4pPr>
            <a:lvl5pPr>
              <a:defRPr sz="2100" b="0">
                <a:solidFill>
                  <a:srgbClr val="17202B"/>
                </a:solidFill>
                <a:latin typeface="Arial"/>
                <a:ea typeface="Arial"/>
                <a:cs typeface="Arial"/>
              </a:defRPr>
            </a:lvl5pPr>
            <a:lvl6pPr>
              <a:defRPr sz="2100" b="0">
                <a:solidFill>
                  <a:srgbClr val="17202B"/>
                </a:solidFill>
                <a:latin typeface="Arial"/>
                <a:ea typeface="Arial"/>
                <a:cs typeface="Arial"/>
              </a:defRPr>
            </a:lvl6pPr>
            <a:lvl7pPr>
              <a:defRPr sz="2100" b="0">
                <a:solidFill>
                  <a:srgbClr val="17202B"/>
                </a:solidFill>
                <a:latin typeface="Arial"/>
                <a:ea typeface="Arial"/>
                <a:cs typeface="Arial"/>
              </a:defRPr>
            </a:lvl7pPr>
            <a:lvl8pPr>
              <a:defRPr sz="2100" b="0">
                <a:solidFill>
                  <a:srgbClr val="17202B"/>
                </a:solidFill>
                <a:latin typeface="Arial"/>
                <a:ea typeface="Arial"/>
                <a:cs typeface="Arial"/>
              </a:defRPr>
            </a:lvl8pPr>
            <a:lvl9pPr>
              <a:defRPr sz="2100" b="0">
                <a:solidFill>
                  <a:srgbClr val="17202B"/>
                </a:solidFill>
                <a:latin typeface="Arial"/>
                <a:ea typeface="Arial"/>
                <a:cs typeface="Arial"/>
              </a:defRPr>
            </a:lvl9pPr>
          </a:lstStyle>
          <a:p xmlns:a="http://schemas.openxmlformats.org/drawingml/2006/main">
            <a:pPr>
              <a:defRPr sz="2100" b="0">
                <a:solidFill>
                  <a:srgbClr val="17202B"/>
                </a:solidFill>
                <a:latin typeface="Arial"/>
                <a:ea typeface="Arial"/>
                <a:cs typeface="Arial"/>
              </a:defRPr>
            </a:pPr>
            <a:r>
              <a:rPr sz="2100" b="0">
                <a:solidFill>
                  <a:srgbClr val="17202B"/>
                </a:solidFill>
                <a:latin typeface="Arial"/>
                <a:ea typeface="Arial"/>
                <a:cs typeface="Arial"/>
              </a:rPr>
              <a:t>Mean: 615 min</a:t>
            </a:r>
          </a:p>
          <a:p xmlns:a="http://schemas.openxmlformats.org/drawingml/2006/main">
            <a:pPr>
              <a:defRPr sz="2100" b="0">
                <a:solidFill>
                  <a:srgbClr val="17202B"/>
                </a:solidFill>
                <a:latin typeface="Arial"/>
                <a:ea typeface="Arial"/>
                <a:cs typeface="Arial"/>
              </a:defRPr>
            </a:pPr>
            <a:r>
              <a:rPr sz="2100" b="0">
                <a:solidFill>
                  <a:srgbClr val="17202B"/>
                </a:solidFill>
                <a:latin typeface="Arial"/>
                <a:ea typeface="Arial"/>
                <a:cs typeface="Arial"/>
              </a:rPr>
              <a:t>Median: 480 min</a:t>
            </a:r>
          </a:p>
          <a:p xmlns:a="http://schemas.openxmlformats.org/drawingml/2006/main">
            <a:pPr>
              <a:defRPr sz="2100" b="0">
                <a:solidFill>
                  <a:srgbClr val="17202B"/>
                </a:solidFill>
                <a:latin typeface="Arial"/>
                <a:ea typeface="Arial"/>
                <a:cs typeface="Arial"/>
              </a:defRPr>
            </a:pPr>
            <a:r>
              <a:rPr sz="2100" b="0">
                <a:solidFill>
                  <a:srgbClr val="17202B"/>
                </a:solidFill>
                <a:latin typeface="Arial"/>
                <a:ea typeface="Arial"/>
                <a:cs typeface="Arial"/>
              </a:rPr>
              <a:t>90th percentile: 960 min</a:t>
            </a:r>
          </a:p>
        </p:txBody>
      </p:sp>
      <p:sp>
        <p:nvSpPr>
          <p:cNvPr id="9" name="">
            <a:extLst xmlns:a="http://schemas.openxmlformats.org/drawingml/2006/main">
              <a:ext uri="{FF2B5EF4-FFF2-40B4-BE49-F238E27FC236}">
                <a16:creationId xmlns:a16="http://schemas.microsoft.com/office/drawing/2014/main" id="{5526D9C2-0550-42D4-8C57-4C1C46D0254E}"/>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96574"/>
                </a:solidFill>
                <a:latin typeface="Arial"/>
                <a:ea typeface="Arial"/>
                <a:cs typeface="Arial"/>
              </a:defRPr>
            </a:defPPr>
            <a:lvl1pPr>
              <a:defRPr sz="1800" b="0">
                <a:solidFill>
                  <a:srgbClr val="596574"/>
                </a:solidFill>
                <a:latin typeface="Arial"/>
                <a:ea typeface="Arial"/>
                <a:cs typeface="Arial"/>
              </a:defRPr>
            </a:lvl1pPr>
            <a:lvl2pPr>
              <a:defRPr sz="1800" b="0">
                <a:solidFill>
                  <a:srgbClr val="596574"/>
                </a:solidFill>
                <a:latin typeface="Arial"/>
                <a:ea typeface="Arial"/>
                <a:cs typeface="Arial"/>
              </a:defRPr>
            </a:lvl2pPr>
            <a:lvl3pPr>
              <a:defRPr sz="1800" b="0">
                <a:solidFill>
                  <a:srgbClr val="596574"/>
                </a:solidFill>
                <a:latin typeface="Arial"/>
                <a:ea typeface="Arial"/>
                <a:cs typeface="Arial"/>
              </a:defRPr>
            </a:lvl3pPr>
            <a:lvl4pPr>
              <a:defRPr sz="1800" b="0">
                <a:solidFill>
                  <a:srgbClr val="596574"/>
                </a:solidFill>
                <a:latin typeface="Arial"/>
                <a:ea typeface="Arial"/>
                <a:cs typeface="Arial"/>
              </a:defRPr>
            </a:lvl4pPr>
            <a:lvl5pPr>
              <a:defRPr sz="1800" b="0">
                <a:solidFill>
                  <a:srgbClr val="596574"/>
                </a:solidFill>
                <a:latin typeface="Arial"/>
                <a:ea typeface="Arial"/>
                <a:cs typeface="Arial"/>
              </a:defRPr>
            </a:lvl5pPr>
            <a:lvl6pPr>
              <a:defRPr sz="1800" b="0">
                <a:solidFill>
                  <a:srgbClr val="596574"/>
                </a:solidFill>
                <a:latin typeface="Arial"/>
                <a:ea typeface="Arial"/>
                <a:cs typeface="Arial"/>
              </a:defRPr>
            </a:lvl6pPr>
            <a:lvl7pPr>
              <a:defRPr sz="1800" b="0">
                <a:solidFill>
                  <a:srgbClr val="596574"/>
                </a:solidFill>
                <a:latin typeface="Arial"/>
                <a:ea typeface="Arial"/>
                <a:cs typeface="Arial"/>
              </a:defRPr>
            </a:lvl7pPr>
            <a:lvl8pPr>
              <a:defRPr sz="1800" b="0">
                <a:solidFill>
                  <a:srgbClr val="596574"/>
                </a:solidFill>
                <a:latin typeface="Arial"/>
                <a:ea typeface="Arial"/>
                <a:cs typeface="Arial"/>
              </a:defRPr>
            </a:lvl8pPr>
            <a:lvl9pPr>
              <a:defRPr sz="1800" b="0">
                <a:solidFill>
                  <a:srgbClr val="596574"/>
                </a:solidFill>
                <a:latin typeface="Arial"/>
                <a:ea typeface="Arial"/>
                <a:cs typeface="Arial"/>
              </a:defRPr>
            </a:lvl9pPr>
          </a:lstStyle>
          <a:p xmlns:a="http://schemas.openxmlformats.org/drawingml/2006/main">
            <a:pPr>
              <a:defRPr sz="1800" b="0">
                <a:solidFill>
                  <a:srgbClr val="596574"/>
                </a:solidFill>
                <a:latin typeface="Arial"/>
                <a:ea typeface="Arial"/>
                <a:cs typeface="Arial"/>
              </a:defRPr>
            </a:pPr>
            <a:r>
              <a:rPr sz="1800" b="0">
                <a:solidFill>
                  <a:srgbClr val="596574"/>
                </a:solidFill>
                <a:latin typeface="Arial"/>
                <a:ea typeface="Arial"/>
                <a:cs typeface="Arial"/>
              </a:rPr>
              <a:t>Milestones count as tasks. Duration statistics exclude zero-duration milestones.</a:t>
            </a:r>
          </a:p>
        </p:txBody>
      </p:sp>
    </p:spTree>
    <p:extLst>
      <p:ext uri="{BB962C8B-B14F-4D97-AF65-F5344CB8AC3E}">
        <p14:creationId xmlns:p14="http://schemas.microsoft.com/office/powerpoint/2010/main" val="1241703051"/>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505156F-1406-4865-AE3A-D6B192316D35}"/>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Sample project walkthrough</a:t>
            </a:r>
          </a:p>
        </p:txBody>
      </p:sp>
      <p:sp>
        <p:nvSpPr>
          <p:cNvPr id="3" name="">
            <a:extLst xmlns:a="http://schemas.openxmlformats.org/drawingml/2006/main">
              <a:ext uri="{FF2B5EF4-FFF2-40B4-BE49-F238E27FC236}">
                <a16:creationId xmlns:a16="http://schemas.microsoft.com/office/drawing/2014/main" id="{D091C597-217D-4F27-9D88-1A3C59915330}"/>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409FF8C-9631-46E5-A919-F3160104285E}"/>
              </a:ext>
            </a:extLst>
          </p:cNvPr>
          <p:cNvSpPr>
            <a:spLocks xmlns:a="http://schemas.openxmlformats.org/drawingml/2006/main" noGrp="1"/>
          </p:cNvSpPr>
          <p:nvPr/>
        </p:nvSpPr>
        <p:spPr>
          <a:xfrm xmlns:a="http://schemas.openxmlformats.org/drawingml/2006/main">
            <a:off x="609600" y="15240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6EDB"/>
                </a:solidFill>
                <a:latin typeface="Arial"/>
                <a:ea typeface="Arial"/>
                <a:cs typeface="Arial"/>
              </a:defRPr>
            </a:defPPr>
            <a:lvl1pPr>
              <a:defRPr sz="2925" b="1">
                <a:solidFill>
                  <a:srgbClr val="006EDB"/>
                </a:solidFill>
                <a:latin typeface="Arial"/>
                <a:ea typeface="Arial"/>
                <a:cs typeface="Arial"/>
              </a:defRPr>
            </a:lvl1pPr>
            <a:lvl2pPr>
              <a:defRPr sz="2925" b="1">
                <a:solidFill>
                  <a:srgbClr val="006EDB"/>
                </a:solidFill>
                <a:latin typeface="Arial"/>
                <a:ea typeface="Arial"/>
                <a:cs typeface="Arial"/>
              </a:defRPr>
            </a:lvl2pPr>
            <a:lvl3pPr>
              <a:defRPr sz="2925" b="1">
                <a:solidFill>
                  <a:srgbClr val="006EDB"/>
                </a:solidFill>
                <a:latin typeface="Arial"/>
                <a:ea typeface="Arial"/>
                <a:cs typeface="Arial"/>
              </a:defRPr>
            </a:lvl3pPr>
            <a:lvl4pPr>
              <a:defRPr sz="2925" b="1">
                <a:solidFill>
                  <a:srgbClr val="006EDB"/>
                </a:solidFill>
                <a:latin typeface="Arial"/>
                <a:ea typeface="Arial"/>
                <a:cs typeface="Arial"/>
              </a:defRPr>
            </a:lvl4pPr>
            <a:lvl5pPr>
              <a:defRPr sz="2925" b="1">
                <a:solidFill>
                  <a:srgbClr val="006EDB"/>
                </a:solidFill>
                <a:latin typeface="Arial"/>
                <a:ea typeface="Arial"/>
                <a:cs typeface="Arial"/>
              </a:defRPr>
            </a:lvl5pPr>
            <a:lvl6pPr>
              <a:defRPr sz="2925" b="1">
                <a:solidFill>
                  <a:srgbClr val="006EDB"/>
                </a:solidFill>
                <a:latin typeface="Arial"/>
                <a:ea typeface="Arial"/>
                <a:cs typeface="Arial"/>
              </a:defRPr>
            </a:lvl6pPr>
            <a:lvl7pPr>
              <a:defRPr sz="2925" b="1">
                <a:solidFill>
                  <a:srgbClr val="006EDB"/>
                </a:solidFill>
                <a:latin typeface="Arial"/>
                <a:ea typeface="Arial"/>
                <a:cs typeface="Arial"/>
              </a:defRPr>
            </a:lvl7pPr>
            <a:lvl8pPr>
              <a:defRPr sz="2925" b="1">
                <a:solidFill>
                  <a:srgbClr val="006EDB"/>
                </a:solidFill>
                <a:latin typeface="Arial"/>
                <a:ea typeface="Arial"/>
                <a:cs typeface="Arial"/>
              </a:defRPr>
            </a:lvl8pPr>
            <a:lvl9pPr>
              <a:defRPr sz="2925" b="1">
                <a:solidFill>
                  <a:srgbClr val="006EDB"/>
                </a:solidFill>
                <a:latin typeface="Arial"/>
                <a:ea typeface="Arial"/>
                <a:cs typeface="Arial"/>
              </a:defRPr>
            </a:lvl9pPr>
          </a:lstStyle>
          <a:p xmlns:a="http://schemas.openxmlformats.org/drawingml/2006/main">
            <a:pPr>
              <a:defRPr sz="2925" b="1">
                <a:solidFill>
                  <a:srgbClr val="006EDB"/>
                </a:solidFill>
                <a:latin typeface="Arial"/>
                <a:ea typeface="Arial"/>
                <a:cs typeface="Arial"/>
              </a:defRPr>
            </a:pPr>
            <a:r>
              <a:rPr sz="2925" b="1">
                <a:solidFill>
                  <a:srgbClr val="006EDB"/>
                </a:solidFill>
                <a:latin typeface="Arial"/>
                <a:ea typeface="Arial"/>
                <a:cs typeface="Arial"/>
              </a:rPr>
              <a:t>Northstar Coffee Website Launch</a:t>
            </a:r>
          </a:p>
        </p:txBody>
      </p:sp>
      <p:sp>
        <p:nvSpPr>
          <p:cNvPr id="5" name="">
            <a:extLst xmlns:a="http://schemas.openxmlformats.org/drawingml/2006/main">
              <a:ext uri="{FF2B5EF4-FFF2-40B4-BE49-F238E27FC236}">
                <a16:creationId xmlns:a16="http://schemas.microsoft.com/office/drawing/2014/main" id="{18DB9393-6296-41A6-9620-E256B5F4D24C}"/>
              </a:ext>
            </a:extLst>
          </p:cNvPr>
          <p:cNvSpPr>
            <a:spLocks xmlns:a="http://schemas.openxmlformats.org/drawingml/2006/main" noGrp="1"/>
          </p:cNvSpPr>
          <p:nvPr/>
        </p:nvSpPr>
        <p:spPr>
          <a:xfrm xmlns:a="http://schemas.openxmlformats.org/drawingml/2006/main">
            <a:off x="609600" y="23336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02B"/>
                </a:solidFill>
                <a:latin typeface="Arial"/>
                <a:ea typeface="Arial"/>
                <a:cs typeface="Arial"/>
              </a:defRPr>
            </a:defPPr>
            <a:lvl1pPr>
              <a:defRPr sz="2400" b="0">
                <a:solidFill>
                  <a:srgbClr val="17202B"/>
                </a:solidFill>
                <a:latin typeface="Arial"/>
                <a:ea typeface="Arial"/>
                <a:cs typeface="Arial"/>
              </a:defRPr>
            </a:lvl1pPr>
            <a:lvl2pPr>
              <a:defRPr sz="2400" b="0">
                <a:solidFill>
                  <a:srgbClr val="17202B"/>
                </a:solidFill>
                <a:latin typeface="Arial"/>
                <a:ea typeface="Arial"/>
                <a:cs typeface="Arial"/>
              </a:defRPr>
            </a:lvl2pPr>
            <a:lvl3pPr>
              <a:defRPr sz="2400" b="0">
                <a:solidFill>
                  <a:srgbClr val="17202B"/>
                </a:solidFill>
                <a:latin typeface="Arial"/>
                <a:ea typeface="Arial"/>
                <a:cs typeface="Arial"/>
              </a:defRPr>
            </a:lvl3pPr>
            <a:lvl4pPr>
              <a:defRPr sz="2400" b="0">
                <a:solidFill>
                  <a:srgbClr val="17202B"/>
                </a:solidFill>
                <a:latin typeface="Arial"/>
                <a:ea typeface="Arial"/>
                <a:cs typeface="Arial"/>
              </a:defRPr>
            </a:lvl4pPr>
            <a:lvl5pPr>
              <a:defRPr sz="2400" b="0">
                <a:solidFill>
                  <a:srgbClr val="17202B"/>
                </a:solidFill>
                <a:latin typeface="Arial"/>
                <a:ea typeface="Arial"/>
                <a:cs typeface="Arial"/>
              </a:defRPr>
            </a:lvl5pPr>
            <a:lvl6pPr>
              <a:defRPr sz="2400" b="0">
                <a:solidFill>
                  <a:srgbClr val="17202B"/>
                </a:solidFill>
                <a:latin typeface="Arial"/>
                <a:ea typeface="Arial"/>
                <a:cs typeface="Arial"/>
              </a:defRPr>
            </a:lvl6pPr>
            <a:lvl7pPr>
              <a:defRPr sz="2400" b="0">
                <a:solidFill>
                  <a:srgbClr val="17202B"/>
                </a:solidFill>
                <a:latin typeface="Arial"/>
                <a:ea typeface="Arial"/>
                <a:cs typeface="Arial"/>
              </a:defRPr>
            </a:lvl7pPr>
            <a:lvl8pPr>
              <a:defRPr sz="2400" b="0">
                <a:solidFill>
                  <a:srgbClr val="17202B"/>
                </a:solidFill>
                <a:latin typeface="Arial"/>
                <a:ea typeface="Arial"/>
                <a:cs typeface="Arial"/>
              </a:defRPr>
            </a:lvl8pPr>
            <a:lvl9pPr>
              <a:defRPr sz="2400" b="0">
                <a:solidFill>
                  <a:srgbClr val="17202B"/>
                </a:solidFill>
                <a:latin typeface="Arial"/>
                <a:ea typeface="Arial"/>
                <a:cs typeface="Arial"/>
              </a:defRPr>
            </a:lvl9pPr>
          </a:lstStyle>
          <a:p xmlns:a="http://schemas.openxmlformats.org/drawingml/2006/main">
            <a:pPr>
              <a:defRPr sz="2400" b="0">
                <a:solidFill>
                  <a:srgbClr val="17202B"/>
                </a:solidFill>
                <a:latin typeface="Arial"/>
                <a:ea typeface="Arial"/>
                <a:cs typeface="Arial"/>
              </a:defRPr>
            </a:pPr>
            <a:r>
              <a:rPr sz="2400" b="0">
                <a:solidFill>
                  <a:srgbClr val="17202B"/>
                </a:solidFill>
                <a:latin typeface="Arial"/>
                <a:ea typeface="Arial"/>
                <a:cs typeface="Arial"/>
              </a:rPr>
              <a:t>18 tasks     23 dependencies     2 milestones</a:t>
            </a:r>
          </a:p>
        </p:txBody>
      </p:sp>
      <p:sp>
        <p:nvSpPr>
          <p:cNvPr id="6" name="">
            <a:extLst xmlns:a="http://schemas.openxmlformats.org/drawingml/2006/main">
              <a:ext uri="{FF2B5EF4-FFF2-40B4-BE49-F238E27FC236}">
                <a16:creationId xmlns:a16="http://schemas.microsoft.com/office/drawing/2014/main" id="{7C40C1F3-9714-4FF8-8C63-6CE8C735FDE7}"/>
              </a:ext>
            </a:extLst>
          </p:cNvPr>
          <p:cNvSpPr>
            <a:spLocks xmlns:a="http://schemas.openxmlformats.org/drawingml/2006/main" noGrp="1"/>
          </p:cNvSpPr>
          <p:nvPr/>
        </p:nvSpPr>
        <p:spPr>
          <a:xfrm xmlns:a="http://schemas.openxmlformats.org/drawingml/2006/main">
            <a:off x="609600" y="3238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1. Tasks</a:t>
            </a:r>
          </a:p>
        </p:txBody>
      </p:sp>
      <p:sp>
        <p:nvSpPr>
          <p:cNvPr id="7" name="">
            <a:extLst xmlns:a="http://schemas.openxmlformats.org/drawingml/2006/main">
              <a:ext uri="{FF2B5EF4-FFF2-40B4-BE49-F238E27FC236}">
                <a16:creationId xmlns:a16="http://schemas.microsoft.com/office/drawing/2014/main" id="{37207287-C609-4350-B529-934D8681753C}"/>
              </a:ext>
            </a:extLst>
          </p:cNvPr>
          <p:cNvSpPr>
            <a:spLocks xmlns:a="http://schemas.openxmlformats.org/drawingml/2006/main" noGrp="1"/>
          </p:cNvSpPr>
          <p:nvPr/>
        </p:nvSpPr>
        <p:spPr>
          <a:xfrm xmlns:a="http://schemas.openxmlformats.org/drawingml/2006/main">
            <a:off x="609600" y="36480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Review completed discovery work and the blocked photography task.</a:t>
            </a:r>
          </a:p>
        </p:txBody>
      </p:sp>
      <p:sp>
        <p:nvSpPr>
          <p:cNvPr id="8" name="">
            <a:extLst xmlns:a="http://schemas.openxmlformats.org/drawingml/2006/main">
              <a:ext uri="{FF2B5EF4-FFF2-40B4-BE49-F238E27FC236}">
                <a16:creationId xmlns:a16="http://schemas.microsoft.com/office/drawing/2014/main" id="{96FD844E-14DF-41F7-8174-2E53CE906131}"/>
              </a:ext>
            </a:extLst>
          </p:cNvPr>
          <p:cNvSpPr>
            <a:spLocks xmlns:a="http://schemas.openxmlformats.org/drawingml/2006/main" noGrp="1"/>
          </p:cNvSpPr>
          <p:nvPr/>
        </p:nvSpPr>
        <p:spPr>
          <a:xfrm xmlns:a="http://schemas.openxmlformats.org/drawingml/2006/main">
            <a:off x="609600" y="41910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2. Timeline</a:t>
            </a:r>
          </a:p>
        </p:txBody>
      </p:sp>
      <p:sp>
        <p:nvSpPr>
          <p:cNvPr id="9" name="">
            <a:extLst xmlns:a="http://schemas.openxmlformats.org/drawingml/2006/main">
              <a:ext uri="{FF2B5EF4-FFF2-40B4-BE49-F238E27FC236}">
                <a16:creationId xmlns:a16="http://schemas.microsoft.com/office/drawing/2014/main" id="{E0BDC5D6-5F56-4675-9789-838999FB9FB1}"/>
              </a:ext>
            </a:extLst>
          </p:cNvPr>
          <p:cNvSpPr>
            <a:spLocks xmlns:a="http://schemas.openxmlformats.org/drawingml/2006/main" noGrp="1"/>
          </p:cNvSpPr>
          <p:nvPr/>
        </p:nvSpPr>
        <p:spPr>
          <a:xfrm xmlns:a="http://schemas.openxmlformats.org/drawingml/2006/main">
            <a:off x="609600" y="4600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Inspect the sequence from design approval to launch and handover.</a:t>
            </a:r>
          </a:p>
        </p:txBody>
      </p:sp>
      <p:sp>
        <p:nvSpPr>
          <p:cNvPr id="10" name="">
            <a:extLst xmlns:a="http://schemas.openxmlformats.org/drawingml/2006/main">
              <a:ext uri="{FF2B5EF4-FFF2-40B4-BE49-F238E27FC236}">
                <a16:creationId xmlns:a16="http://schemas.microsoft.com/office/drawing/2014/main" id="{C47ECFDE-88E1-4B08-B062-D8C7618A5E8F}"/>
              </a:ext>
            </a:extLst>
          </p:cNvPr>
          <p:cNvSpPr>
            <a:spLocks xmlns:a="http://schemas.openxmlformats.org/drawingml/2006/main" noGrp="1"/>
          </p:cNvSpPr>
          <p:nvPr/>
        </p:nvSpPr>
        <p:spPr>
          <a:xfrm xmlns:a="http://schemas.openxmlformats.org/drawingml/2006/main">
            <a:off x="609600" y="5143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3. Settings</a:t>
            </a:r>
          </a:p>
        </p:txBody>
      </p:sp>
      <p:sp>
        <p:nvSpPr>
          <p:cNvPr id="11" name="">
            <a:extLst xmlns:a="http://schemas.openxmlformats.org/drawingml/2006/main">
              <a:ext uri="{FF2B5EF4-FFF2-40B4-BE49-F238E27FC236}">
                <a16:creationId xmlns:a16="http://schemas.microsoft.com/office/drawing/2014/main" id="{941ECADC-9922-4DDB-84A2-56871C53B2F8}"/>
              </a:ext>
            </a:extLst>
          </p:cNvPr>
          <p:cNvSpPr>
            <a:spLocks xmlns:a="http://schemas.openxmlformats.org/drawingml/2006/main" noGrp="1"/>
          </p:cNvSpPr>
          <p:nvPr/>
        </p:nvSpPr>
        <p:spPr>
          <a:xfrm xmlns:a="http://schemas.openxmlformats.org/drawingml/2006/main">
            <a:off x="609600" y="55530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Review the working calendar and the 6 November target finish.</a:t>
            </a:r>
          </a:p>
        </p:txBody>
      </p:sp>
    </p:spTree>
    <p:extLst>
      <p:ext uri="{BB962C8B-B14F-4D97-AF65-F5344CB8AC3E}">
        <p14:creationId xmlns:p14="http://schemas.microsoft.com/office/powerpoint/2010/main" val="1521022979"/>
      </p:ext>
    </p:extLst>
  </p:cSld>
</p:sld>
</file>

<file path=ppt/slides/slide12.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C7DD72E-B963-4113-8E69-503BCE26D12F}"/>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Access control and data protection</a:t>
            </a:r>
          </a:p>
        </p:txBody>
      </p:sp>
      <p:sp>
        <p:nvSpPr>
          <p:cNvPr id="3" name="">
            <a:extLst xmlns:a="http://schemas.openxmlformats.org/drawingml/2006/main">
              <a:ext uri="{FF2B5EF4-FFF2-40B4-BE49-F238E27FC236}">
                <a16:creationId xmlns:a16="http://schemas.microsoft.com/office/drawing/2014/main" id="{241BE7F6-E1AF-4CCF-9B57-3D157C86D57D}"/>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BA41DB78-916F-445D-BBB8-D289648E1C2C}"/>
              </a:ext>
            </a:extLst>
          </p:cNvPr>
          <p:cNvSpPr>
            <a:spLocks xmlns:a="http://schemas.openxmlformats.org/drawingml/2006/main" noGrp="1"/>
          </p:cNvSpPr>
          <p:nvPr/>
        </p:nvSpPr>
        <p:spPr>
          <a:xfrm xmlns:a="http://schemas.openxmlformats.org/drawingml/2006/main">
            <a:off x="609600" y="18097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Authorization on the server</a:t>
            </a:r>
          </a:p>
        </p:txBody>
      </p:sp>
      <p:sp>
        <p:nvSpPr>
          <p:cNvPr id="5" name="">
            <a:extLst xmlns:a="http://schemas.openxmlformats.org/drawingml/2006/main">
              <a:ext uri="{FF2B5EF4-FFF2-40B4-BE49-F238E27FC236}">
                <a16:creationId xmlns:a16="http://schemas.microsoft.com/office/drawing/2014/main" id="{280420F4-6690-4E94-8799-7ED210866738}"/>
              </a:ext>
            </a:extLst>
          </p:cNvPr>
          <p:cNvSpPr>
            <a:spLocks xmlns:a="http://schemas.openxmlformats.org/drawingml/2006/main" noGrp="1"/>
          </p:cNvSpPr>
          <p:nvPr/>
        </p:nvSpPr>
        <p:spPr>
          <a:xfrm xmlns:a="http://schemas.openxmlformats.org/drawingml/2006/main">
            <a:off x="609600" y="2219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Organization membership and role checks guard project access.</a:t>
            </a:r>
          </a:p>
        </p:txBody>
      </p:sp>
      <p:sp>
        <p:nvSpPr>
          <p:cNvPr id="6" name="">
            <a:extLst xmlns:a="http://schemas.openxmlformats.org/drawingml/2006/main">
              <a:ext uri="{FF2B5EF4-FFF2-40B4-BE49-F238E27FC236}">
                <a16:creationId xmlns:a16="http://schemas.microsoft.com/office/drawing/2014/main" id="{AC81D3EE-8051-44FF-9291-99FF2A8AD077}"/>
              </a:ext>
            </a:extLst>
          </p:cNvPr>
          <p:cNvSpPr>
            <a:spLocks xmlns:a="http://schemas.openxmlformats.org/drawingml/2006/main" noGrp="1"/>
          </p:cNvSpPr>
          <p:nvPr/>
        </p:nvSpPr>
        <p:spPr>
          <a:xfrm xmlns:a="http://schemas.openxmlformats.org/drawingml/2006/main">
            <a:off x="609600" y="29527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Protected edits</a:t>
            </a:r>
          </a:p>
        </p:txBody>
      </p:sp>
      <p:sp>
        <p:nvSpPr>
          <p:cNvPr id="7" name="">
            <a:extLst xmlns:a="http://schemas.openxmlformats.org/drawingml/2006/main">
              <a:ext uri="{FF2B5EF4-FFF2-40B4-BE49-F238E27FC236}">
                <a16:creationId xmlns:a16="http://schemas.microsoft.com/office/drawing/2014/main" id="{A6341EFE-7B63-473B-AFDE-04F6A1553C54}"/>
              </a:ext>
            </a:extLst>
          </p:cNvPr>
          <p:cNvSpPr>
            <a:spLocks xmlns:a="http://schemas.openxmlformats.org/drawingml/2006/main" noGrp="1"/>
          </p:cNvSpPr>
          <p:nvPr/>
        </p:nvSpPr>
        <p:spPr>
          <a:xfrm xmlns:a="http://schemas.openxmlformats.org/drawingml/2006/main">
            <a:off x="609600" y="3362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CSRF checks and project/calendar versions help reject invalid writes.</a:t>
            </a:r>
          </a:p>
        </p:txBody>
      </p:sp>
      <p:sp>
        <p:nvSpPr>
          <p:cNvPr id="8" name="">
            <a:extLst xmlns:a="http://schemas.openxmlformats.org/drawingml/2006/main">
              <a:ext uri="{FF2B5EF4-FFF2-40B4-BE49-F238E27FC236}">
                <a16:creationId xmlns:a16="http://schemas.microsoft.com/office/drawing/2014/main" id="{4ED367A6-522D-432E-8B0B-B0C771BDB34E}"/>
              </a:ext>
            </a:extLst>
          </p:cNvPr>
          <p:cNvSpPr>
            <a:spLocks xmlns:a="http://schemas.openxmlformats.org/drawingml/2006/main" noGrp="1"/>
          </p:cNvSpPr>
          <p:nvPr/>
        </p:nvSpPr>
        <p:spPr>
          <a:xfrm xmlns:a="http://schemas.openxmlformats.org/drawingml/2006/main">
            <a:off x="609600" y="40957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EDB"/>
                </a:solidFill>
                <a:latin typeface="Arial"/>
                <a:ea typeface="Arial"/>
                <a:cs typeface="Arial"/>
              </a:defRPr>
            </a:defPPr>
            <a:lvl1pPr>
              <a:defRPr sz="2100" b="1">
                <a:solidFill>
                  <a:srgbClr val="006EDB"/>
                </a:solidFill>
                <a:latin typeface="Arial"/>
                <a:ea typeface="Arial"/>
                <a:cs typeface="Arial"/>
              </a:defRPr>
            </a:lvl1pPr>
            <a:lvl2pPr>
              <a:defRPr sz="2100" b="1">
                <a:solidFill>
                  <a:srgbClr val="006EDB"/>
                </a:solidFill>
                <a:latin typeface="Arial"/>
                <a:ea typeface="Arial"/>
                <a:cs typeface="Arial"/>
              </a:defRPr>
            </a:lvl2pPr>
            <a:lvl3pPr>
              <a:defRPr sz="2100" b="1">
                <a:solidFill>
                  <a:srgbClr val="006EDB"/>
                </a:solidFill>
                <a:latin typeface="Arial"/>
                <a:ea typeface="Arial"/>
                <a:cs typeface="Arial"/>
              </a:defRPr>
            </a:lvl3pPr>
            <a:lvl4pPr>
              <a:defRPr sz="2100" b="1">
                <a:solidFill>
                  <a:srgbClr val="006EDB"/>
                </a:solidFill>
                <a:latin typeface="Arial"/>
                <a:ea typeface="Arial"/>
                <a:cs typeface="Arial"/>
              </a:defRPr>
            </a:lvl4pPr>
            <a:lvl5pPr>
              <a:defRPr sz="2100" b="1">
                <a:solidFill>
                  <a:srgbClr val="006EDB"/>
                </a:solidFill>
                <a:latin typeface="Arial"/>
                <a:ea typeface="Arial"/>
                <a:cs typeface="Arial"/>
              </a:defRPr>
            </a:lvl5pPr>
            <a:lvl6pPr>
              <a:defRPr sz="2100" b="1">
                <a:solidFill>
                  <a:srgbClr val="006EDB"/>
                </a:solidFill>
                <a:latin typeface="Arial"/>
                <a:ea typeface="Arial"/>
                <a:cs typeface="Arial"/>
              </a:defRPr>
            </a:lvl6pPr>
            <a:lvl7pPr>
              <a:defRPr sz="2100" b="1">
                <a:solidFill>
                  <a:srgbClr val="006EDB"/>
                </a:solidFill>
                <a:latin typeface="Arial"/>
                <a:ea typeface="Arial"/>
                <a:cs typeface="Arial"/>
              </a:defRPr>
            </a:lvl7pPr>
            <a:lvl8pPr>
              <a:defRPr sz="2100" b="1">
                <a:solidFill>
                  <a:srgbClr val="006EDB"/>
                </a:solidFill>
                <a:latin typeface="Arial"/>
                <a:ea typeface="Arial"/>
                <a:cs typeface="Arial"/>
              </a:defRPr>
            </a:lvl8pPr>
            <a:lvl9pPr>
              <a:defRPr sz="2100" b="1">
                <a:solidFill>
                  <a:srgbClr val="006EDB"/>
                </a:solidFill>
                <a:latin typeface="Arial"/>
                <a:ea typeface="Arial"/>
                <a:cs typeface="Arial"/>
              </a:defRPr>
            </a:lvl9pPr>
          </a:lstStyle>
          <a:p xmlns:a="http://schemas.openxmlformats.org/drawingml/2006/main">
            <a:pPr>
              <a:defRPr sz="2100" b="1">
                <a:solidFill>
                  <a:srgbClr val="006EDB"/>
                </a:solidFill>
                <a:latin typeface="Arial"/>
                <a:ea typeface="Arial"/>
                <a:cs typeface="Arial"/>
              </a:defRPr>
            </a:pPr>
            <a:r>
              <a:rPr sz="2100" b="1">
                <a:solidFill>
                  <a:srgbClr val="006EDB"/>
                </a:solidFill>
                <a:latin typeface="Arial"/>
                <a:ea typeface="Arial"/>
                <a:cs typeface="Arial"/>
              </a:rPr>
              <a:t>Database compatibility</a:t>
            </a:r>
          </a:p>
        </p:txBody>
      </p:sp>
      <p:sp>
        <p:nvSpPr>
          <p:cNvPr id="9" name="">
            <a:extLst xmlns:a="http://schemas.openxmlformats.org/drawingml/2006/main">
              <a:ext uri="{FF2B5EF4-FFF2-40B4-BE49-F238E27FC236}">
                <a16:creationId xmlns:a16="http://schemas.microsoft.com/office/drawing/2014/main" id="{95982AC6-DFAF-42CD-B0D4-98B2805AFC99}"/>
              </a:ext>
            </a:extLst>
          </p:cNvPr>
          <p:cNvSpPr>
            <a:spLocks xmlns:a="http://schemas.openxmlformats.org/drawingml/2006/main" noGrp="1"/>
          </p:cNvSpPr>
          <p:nvPr/>
        </p:nvSpPr>
        <p:spPr>
          <a:xfrm xmlns:a="http://schemas.openxmlformats.org/drawingml/2006/main">
            <a:off x="609600" y="4505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02B"/>
                </a:solidFill>
                <a:latin typeface="Arial"/>
                <a:ea typeface="Arial"/>
                <a:cs typeface="Arial"/>
              </a:defRPr>
            </a:defPPr>
            <a:lvl1pPr>
              <a:defRPr sz="1875" b="0">
                <a:solidFill>
                  <a:srgbClr val="17202B"/>
                </a:solidFill>
                <a:latin typeface="Arial"/>
                <a:ea typeface="Arial"/>
                <a:cs typeface="Arial"/>
              </a:defRPr>
            </a:lvl1pPr>
            <a:lvl2pPr>
              <a:defRPr sz="1875" b="0">
                <a:solidFill>
                  <a:srgbClr val="17202B"/>
                </a:solidFill>
                <a:latin typeface="Arial"/>
                <a:ea typeface="Arial"/>
                <a:cs typeface="Arial"/>
              </a:defRPr>
            </a:lvl2pPr>
            <a:lvl3pPr>
              <a:defRPr sz="1875" b="0">
                <a:solidFill>
                  <a:srgbClr val="17202B"/>
                </a:solidFill>
                <a:latin typeface="Arial"/>
                <a:ea typeface="Arial"/>
                <a:cs typeface="Arial"/>
              </a:defRPr>
            </a:lvl3pPr>
            <a:lvl4pPr>
              <a:defRPr sz="1875" b="0">
                <a:solidFill>
                  <a:srgbClr val="17202B"/>
                </a:solidFill>
                <a:latin typeface="Arial"/>
                <a:ea typeface="Arial"/>
                <a:cs typeface="Arial"/>
              </a:defRPr>
            </a:lvl4pPr>
            <a:lvl5pPr>
              <a:defRPr sz="1875" b="0">
                <a:solidFill>
                  <a:srgbClr val="17202B"/>
                </a:solidFill>
                <a:latin typeface="Arial"/>
                <a:ea typeface="Arial"/>
                <a:cs typeface="Arial"/>
              </a:defRPr>
            </a:lvl5pPr>
            <a:lvl6pPr>
              <a:defRPr sz="1875" b="0">
                <a:solidFill>
                  <a:srgbClr val="17202B"/>
                </a:solidFill>
                <a:latin typeface="Arial"/>
                <a:ea typeface="Arial"/>
                <a:cs typeface="Arial"/>
              </a:defRPr>
            </a:lvl6pPr>
            <a:lvl7pPr>
              <a:defRPr sz="1875" b="0">
                <a:solidFill>
                  <a:srgbClr val="17202B"/>
                </a:solidFill>
                <a:latin typeface="Arial"/>
                <a:ea typeface="Arial"/>
                <a:cs typeface="Arial"/>
              </a:defRPr>
            </a:lvl7pPr>
            <a:lvl8pPr>
              <a:defRPr sz="1875" b="0">
                <a:solidFill>
                  <a:srgbClr val="17202B"/>
                </a:solidFill>
                <a:latin typeface="Arial"/>
                <a:ea typeface="Arial"/>
                <a:cs typeface="Arial"/>
              </a:defRPr>
            </a:lvl8pPr>
            <a:lvl9pPr>
              <a:defRPr sz="1875" b="0">
                <a:solidFill>
                  <a:srgbClr val="17202B"/>
                </a:solidFill>
                <a:latin typeface="Arial"/>
                <a:ea typeface="Arial"/>
                <a:cs typeface="Arial"/>
              </a:defRPr>
            </a:lvl9pPr>
          </a:lstStyle>
          <a:p xmlns:a="http://schemas.openxmlformats.org/drawingml/2006/main">
            <a:pPr>
              <a:defRPr sz="1875" b="0">
                <a:solidFill>
                  <a:srgbClr val="17202B"/>
                </a:solidFill>
                <a:latin typeface="Arial"/>
                <a:ea typeface="Arial"/>
                <a:cs typeface="Arial"/>
              </a:defRPr>
            </a:pPr>
            <a:r>
              <a:rPr sz="1875" b="0">
                <a:solidFill>
                  <a:srgbClr val="17202B"/>
                </a:solidFill>
                <a:latin typeface="Arial"/>
                <a:ea typeface="Arial"/>
                <a:cs typeface="Arial"/>
              </a:rPr>
              <a:t>Retired features keep their legacy storage and migration history.</a:t>
            </a:r>
          </a:p>
        </p:txBody>
      </p:sp>
    </p:spTree>
    <p:extLst>
      <p:ext uri="{BB962C8B-B14F-4D97-AF65-F5344CB8AC3E}">
        <p14:creationId xmlns:p14="http://schemas.microsoft.com/office/powerpoint/2010/main" val="61234470"/>
      </p:ext>
    </p:extLst>
  </p:cSld>
</p:sld>
</file>

<file path=ppt/slides/slide1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EE54E3-9978-4E70-9505-AE38D3CC3343}"/>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2B"/>
                </a:solidFill>
                <a:latin typeface="Arial"/>
                <a:ea typeface="Arial"/>
                <a:cs typeface="Arial"/>
              </a:defRPr>
            </a:defPPr>
            <a:lvl1pPr>
              <a:defRPr sz="3300" b="1">
                <a:solidFill>
                  <a:srgbClr val="17202B"/>
                </a:solidFill>
                <a:latin typeface="Arial"/>
                <a:ea typeface="Arial"/>
                <a:cs typeface="Arial"/>
              </a:defRPr>
            </a:lvl1pPr>
            <a:lvl2pPr>
              <a:defRPr sz="3300" b="1">
                <a:solidFill>
                  <a:srgbClr val="17202B"/>
                </a:solidFill>
                <a:latin typeface="Arial"/>
                <a:ea typeface="Arial"/>
                <a:cs typeface="Arial"/>
              </a:defRPr>
            </a:lvl2pPr>
            <a:lvl3pPr>
              <a:defRPr sz="3300" b="1">
                <a:solidFill>
                  <a:srgbClr val="17202B"/>
                </a:solidFill>
                <a:latin typeface="Arial"/>
                <a:ea typeface="Arial"/>
                <a:cs typeface="Arial"/>
              </a:defRPr>
            </a:lvl3pPr>
            <a:lvl4pPr>
              <a:defRPr sz="3300" b="1">
                <a:solidFill>
                  <a:srgbClr val="17202B"/>
                </a:solidFill>
                <a:latin typeface="Arial"/>
                <a:ea typeface="Arial"/>
                <a:cs typeface="Arial"/>
              </a:defRPr>
            </a:lvl4pPr>
            <a:lvl5pPr>
              <a:defRPr sz="3300" b="1">
                <a:solidFill>
                  <a:srgbClr val="17202B"/>
                </a:solidFill>
                <a:latin typeface="Arial"/>
                <a:ea typeface="Arial"/>
                <a:cs typeface="Arial"/>
              </a:defRPr>
            </a:lvl5pPr>
            <a:lvl6pPr>
              <a:defRPr sz="3300" b="1">
                <a:solidFill>
                  <a:srgbClr val="17202B"/>
                </a:solidFill>
                <a:latin typeface="Arial"/>
                <a:ea typeface="Arial"/>
                <a:cs typeface="Arial"/>
              </a:defRPr>
            </a:lvl6pPr>
            <a:lvl7pPr>
              <a:defRPr sz="3300" b="1">
                <a:solidFill>
                  <a:srgbClr val="17202B"/>
                </a:solidFill>
                <a:latin typeface="Arial"/>
                <a:ea typeface="Arial"/>
                <a:cs typeface="Arial"/>
              </a:defRPr>
            </a:lvl7pPr>
            <a:lvl8pPr>
              <a:defRPr sz="3300" b="1">
                <a:solidFill>
                  <a:srgbClr val="17202B"/>
                </a:solidFill>
                <a:latin typeface="Arial"/>
                <a:ea typeface="Arial"/>
                <a:cs typeface="Arial"/>
              </a:defRPr>
            </a:lvl8pPr>
            <a:lvl9pPr>
              <a:defRPr sz="3300" b="1">
                <a:solidFill>
                  <a:srgbClr val="17202B"/>
                </a:solidFill>
                <a:latin typeface="Arial"/>
                <a:ea typeface="Arial"/>
                <a:cs typeface="Arial"/>
              </a:defRPr>
            </a:lvl9pPr>
          </a:lstStyle>
          <a:p xmlns:a="http://schemas.openxmlformats.org/drawingml/2006/main">
            <a:pPr>
              <a:defRPr sz="3300" b="1">
                <a:solidFill>
                  <a:srgbClr val="17202B"/>
                </a:solidFill>
                <a:latin typeface="Arial"/>
                <a:ea typeface="Arial"/>
                <a:cs typeface="Arial"/>
              </a:defRPr>
            </a:pPr>
            <a:r>
              <a:rPr sz="3300" b="1">
                <a:solidFill>
                  <a:srgbClr val="17202B"/>
                </a:solidFill>
                <a:latin typeface="Arial"/>
                <a:ea typeface="Arial"/>
                <a:cs typeface="Arial"/>
              </a:rPr>
              <a:t>Verification and current limits</a:t>
            </a:r>
          </a:p>
        </p:txBody>
      </p:sp>
      <p:sp>
        <p:nvSpPr>
          <p:cNvPr id="3" name="">
            <a:extLst xmlns:a="http://schemas.openxmlformats.org/drawingml/2006/main">
              <a:ext uri="{FF2B5EF4-FFF2-40B4-BE49-F238E27FC236}">
                <a16:creationId xmlns:a16="http://schemas.microsoft.com/office/drawing/2014/main" id="{94E0A84E-6A2F-4383-8F92-80C4184C9DF4}"/>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574"/>
                </a:solidFill>
                <a:latin typeface="Arial"/>
                <a:ea typeface="Arial"/>
                <a:cs typeface="Arial"/>
              </a:defRPr>
            </a:defPPr>
            <a:lvl1pPr>
              <a:defRPr sz="1200" b="0">
                <a:solidFill>
                  <a:srgbClr val="596574"/>
                </a:solidFill>
                <a:latin typeface="Arial"/>
                <a:ea typeface="Arial"/>
                <a:cs typeface="Arial"/>
              </a:defRPr>
            </a:lvl1pPr>
            <a:lvl2pPr>
              <a:defRPr sz="1200" b="0">
                <a:solidFill>
                  <a:srgbClr val="596574"/>
                </a:solidFill>
                <a:latin typeface="Arial"/>
                <a:ea typeface="Arial"/>
                <a:cs typeface="Arial"/>
              </a:defRPr>
            </a:lvl2pPr>
            <a:lvl3pPr>
              <a:defRPr sz="1200" b="0">
                <a:solidFill>
                  <a:srgbClr val="596574"/>
                </a:solidFill>
                <a:latin typeface="Arial"/>
                <a:ea typeface="Arial"/>
                <a:cs typeface="Arial"/>
              </a:defRPr>
            </a:lvl3pPr>
            <a:lvl4pPr>
              <a:defRPr sz="1200" b="0">
                <a:solidFill>
                  <a:srgbClr val="596574"/>
                </a:solidFill>
                <a:latin typeface="Arial"/>
                <a:ea typeface="Arial"/>
                <a:cs typeface="Arial"/>
              </a:defRPr>
            </a:lvl4pPr>
            <a:lvl5pPr>
              <a:defRPr sz="1200" b="0">
                <a:solidFill>
                  <a:srgbClr val="596574"/>
                </a:solidFill>
                <a:latin typeface="Arial"/>
                <a:ea typeface="Arial"/>
                <a:cs typeface="Arial"/>
              </a:defRPr>
            </a:lvl5pPr>
            <a:lvl6pPr>
              <a:defRPr sz="1200" b="0">
                <a:solidFill>
                  <a:srgbClr val="596574"/>
                </a:solidFill>
                <a:latin typeface="Arial"/>
                <a:ea typeface="Arial"/>
                <a:cs typeface="Arial"/>
              </a:defRPr>
            </a:lvl6pPr>
            <a:lvl7pPr>
              <a:defRPr sz="1200" b="0">
                <a:solidFill>
                  <a:srgbClr val="596574"/>
                </a:solidFill>
                <a:latin typeface="Arial"/>
                <a:ea typeface="Arial"/>
                <a:cs typeface="Arial"/>
              </a:defRPr>
            </a:lvl7pPr>
            <a:lvl8pPr>
              <a:defRPr sz="1200" b="0">
                <a:solidFill>
                  <a:srgbClr val="596574"/>
                </a:solidFill>
                <a:latin typeface="Arial"/>
                <a:ea typeface="Arial"/>
                <a:cs typeface="Arial"/>
              </a:defRPr>
            </a:lvl8pPr>
            <a:lvl9pPr>
              <a:defRPr sz="1200" b="0">
                <a:solidFill>
                  <a:srgbClr val="596574"/>
                </a:solidFill>
                <a:latin typeface="Arial"/>
                <a:ea typeface="Arial"/>
                <a:cs typeface="Arial"/>
              </a:defRPr>
            </a:lvl9pPr>
          </a:lstStyle>
          <a:p xmlns:a="http://schemas.openxmlformats.org/drawingml/2006/main">
            <a:pPr>
              <a:defRPr sz="1200" b="0">
                <a:solidFill>
                  <a:srgbClr val="596574"/>
                </a:solidFill>
                <a:latin typeface="Arial"/>
                <a:ea typeface="Arial"/>
                <a:cs typeface="Arial"/>
              </a:defRPr>
            </a:pPr>
            <a:r>
              <a:rPr sz="1200" b="0">
                <a:solidFill>
                  <a:srgbClr val="596574"/>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7C3978B4-46B6-463B-BF51-7DA50085B0C3}"/>
              </a:ext>
            </a:extLst>
          </p:cNvPr>
          <p:cNvSpPr>
            <a:spLocks xmlns:a="http://schemas.openxmlformats.org/drawingml/2006/main" noGrp="1"/>
          </p:cNvSpPr>
          <p:nvPr/>
        </p:nvSpPr>
        <p:spPr>
          <a:xfrm xmlns:a="http://schemas.openxmlformats.org/drawingml/2006/main">
            <a:off x="609600" y="1666875"/>
            <a:ext cx="409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06EDB"/>
                </a:solidFill>
                <a:latin typeface="Arial"/>
                <a:ea typeface="Arial"/>
                <a:cs typeface="Arial"/>
              </a:defRPr>
            </a:defPPr>
            <a:lvl1pPr>
              <a:defRPr sz="5700" b="1">
                <a:solidFill>
                  <a:srgbClr val="006EDB"/>
                </a:solidFill>
                <a:latin typeface="Arial"/>
                <a:ea typeface="Arial"/>
                <a:cs typeface="Arial"/>
              </a:defRPr>
            </a:lvl1pPr>
            <a:lvl2pPr>
              <a:defRPr sz="5700" b="1">
                <a:solidFill>
                  <a:srgbClr val="006EDB"/>
                </a:solidFill>
                <a:latin typeface="Arial"/>
                <a:ea typeface="Arial"/>
                <a:cs typeface="Arial"/>
              </a:defRPr>
            </a:lvl2pPr>
            <a:lvl3pPr>
              <a:defRPr sz="5700" b="1">
                <a:solidFill>
                  <a:srgbClr val="006EDB"/>
                </a:solidFill>
                <a:latin typeface="Arial"/>
                <a:ea typeface="Arial"/>
                <a:cs typeface="Arial"/>
              </a:defRPr>
            </a:lvl3pPr>
            <a:lvl4pPr>
              <a:defRPr sz="5700" b="1">
                <a:solidFill>
                  <a:srgbClr val="006EDB"/>
                </a:solidFill>
                <a:latin typeface="Arial"/>
                <a:ea typeface="Arial"/>
                <a:cs typeface="Arial"/>
              </a:defRPr>
            </a:lvl4pPr>
            <a:lvl5pPr>
              <a:defRPr sz="5700" b="1">
                <a:solidFill>
                  <a:srgbClr val="006EDB"/>
                </a:solidFill>
                <a:latin typeface="Arial"/>
                <a:ea typeface="Arial"/>
                <a:cs typeface="Arial"/>
              </a:defRPr>
            </a:lvl5pPr>
            <a:lvl6pPr>
              <a:defRPr sz="5700" b="1">
                <a:solidFill>
                  <a:srgbClr val="006EDB"/>
                </a:solidFill>
                <a:latin typeface="Arial"/>
                <a:ea typeface="Arial"/>
                <a:cs typeface="Arial"/>
              </a:defRPr>
            </a:lvl6pPr>
            <a:lvl7pPr>
              <a:defRPr sz="5700" b="1">
                <a:solidFill>
                  <a:srgbClr val="006EDB"/>
                </a:solidFill>
                <a:latin typeface="Arial"/>
                <a:ea typeface="Arial"/>
                <a:cs typeface="Arial"/>
              </a:defRPr>
            </a:lvl7pPr>
            <a:lvl8pPr>
              <a:defRPr sz="5700" b="1">
                <a:solidFill>
                  <a:srgbClr val="006EDB"/>
                </a:solidFill>
                <a:latin typeface="Arial"/>
                <a:ea typeface="Arial"/>
                <a:cs typeface="Arial"/>
              </a:defRPr>
            </a:lvl8pPr>
            <a:lvl9pPr>
              <a:defRPr sz="5700" b="1">
                <a:solidFill>
                  <a:srgbClr val="006EDB"/>
                </a:solidFill>
                <a:latin typeface="Arial"/>
                <a:ea typeface="Arial"/>
                <a:cs typeface="Arial"/>
              </a:defRPr>
            </a:lvl9pPr>
          </a:lstStyle>
          <a:p xmlns:a="http://schemas.openxmlformats.org/drawingml/2006/main">
            <a:pPr>
              <a:defRPr sz="5700" b="1">
                <a:solidFill>
                  <a:srgbClr val="006EDB"/>
                </a:solidFill>
                <a:latin typeface="Arial"/>
                <a:ea typeface="Arial"/>
                <a:cs typeface="Arial"/>
              </a:defRPr>
            </a:pPr>
            <a:r>
              <a:rPr sz="5700" b="1">
                <a:solidFill>
                  <a:srgbClr val="006EDB"/>
                </a:solidFill>
                <a:latin typeface="Arial"/>
                <a:ea typeface="Arial"/>
                <a:cs typeface="Arial"/>
              </a:rPr>
              <a:t>101</a:t>
            </a:r>
          </a:p>
        </p:txBody>
      </p:sp>
      <p:sp>
        <p:nvSpPr>
          <p:cNvPr id="5" name="">
            <a:extLst xmlns:a="http://schemas.openxmlformats.org/drawingml/2006/main">
              <a:ext uri="{FF2B5EF4-FFF2-40B4-BE49-F238E27FC236}">
                <a16:creationId xmlns:a16="http://schemas.microsoft.com/office/drawing/2014/main" id="{EF3ADDB8-E20B-41C1-AD62-0D5148F8BFDF}"/>
              </a:ext>
            </a:extLst>
          </p:cNvPr>
          <p:cNvSpPr>
            <a:spLocks xmlns:a="http://schemas.openxmlformats.org/drawingml/2006/main" noGrp="1"/>
          </p:cNvSpPr>
          <p:nvPr/>
        </p:nvSpPr>
        <p:spPr>
          <a:xfrm xmlns:a="http://schemas.openxmlformats.org/drawingml/2006/main">
            <a:off x="609600" y="27146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02B"/>
                </a:solidFill>
                <a:latin typeface="Arial"/>
                <a:ea typeface="Arial"/>
                <a:cs typeface="Arial"/>
              </a:defRPr>
            </a:defPPr>
            <a:lvl1pPr>
              <a:defRPr sz="2100" b="0">
                <a:solidFill>
                  <a:srgbClr val="17202B"/>
                </a:solidFill>
                <a:latin typeface="Arial"/>
                <a:ea typeface="Arial"/>
                <a:cs typeface="Arial"/>
              </a:defRPr>
            </a:lvl1pPr>
            <a:lvl2pPr>
              <a:defRPr sz="2100" b="0">
                <a:solidFill>
                  <a:srgbClr val="17202B"/>
                </a:solidFill>
                <a:latin typeface="Arial"/>
                <a:ea typeface="Arial"/>
                <a:cs typeface="Arial"/>
              </a:defRPr>
            </a:lvl2pPr>
            <a:lvl3pPr>
              <a:defRPr sz="2100" b="0">
                <a:solidFill>
                  <a:srgbClr val="17202B"/>
                </a:solidFill>
                <a:latin typeface="Arial"/>
                <a:ea typeface="Arial"/>
                <a:cs typeface="Arial"/>
              </a:defRPr>
            </a:lvl3pPr>
            <a:lvl4pPr>
              <a:defRPr sz="2100" b="0">
                <a:solidFill>
                  <a:srgbClr val="17202B"/>
                </a:solidFill>
                <a:latin typeface="Arial"/>
                <a:ea typeface="Arial"/>
                <a:cs typeface="Arial"/>
              </a:defRPr>
            </a:lvl4pPr>
            <a:lvl5pPr>
              <a:defRPr sz="2100" b="0">
                <a:solidFill>
                  <a:srgbClr val="17202B"/>
                </a:solidFill>
                <a:latin typeface="Arial"/>
                <a:ea typeface="Arial"/>
                <a:cs typeface="Arial"/>
              </a:defRPr>
            </a:lvl5pPr>
            <a:lvl6pPr>
              <a:defRPr sz="2100" b="0">
                <a:solidFill>
                  <a:srgbClr val="17202B"/>
                </a:solidFill>
                <a:latin typeface="Arial"/>
                <a:ea typeface="Arial"/>
                <a:cs typeface="Arial"/>
              </a:defRPr>
            </a:lvl6pPr>
            <a:lvl7pPr>
              <a:defRPr sz="2100" b="0">
                <a:solidFill>
                  <a:srgbClr val="17202B"/>
                </a:solidFill>
                <a:latin typeface="Arial"/>
                <a:ea typeface="Arial"/>
                <a:cs typeface="Arial"/>
              </a:defRPr>
            </a:lvl7pPr>
            <a:lvl8pPr>
              <a:defRPr sz="2100" b="0">
                <a:solidFill>
                  <a:srgbClr val="17202B"/>
                </a:solidFill>
                <a:latin typeface="Arial"/>
                <a:ea typeface="Arial"/>
                <a:cs typeface="Arial"/>
              </a:defRPr>
            </a:lvl8pPr>
            <a:lvl9pPr>
              <a:defRPr sz="2100" b="0">
                <a:solidFill>
                  <a:srgbClr val="17202B"/>
                </a:solidFill>
                <a:latin typeface="Arial"/>
                <a:ea typeface="Arial"/>
                <a:cs typeface="Arial"/>
              </a:defRPr>
            </a:lvl9pPr>
          </a:lstStyle>
          <a:p xmlns:a="http://schemas.openxmlformats.org/drawingml/2006/main">
            <a:pPr>
              <a:defRPr sz="2100" b="0">
                <a:solidFill>
                  <a:srgbClr val="17202B"/>
                </a:solidFill>
                <a:latin typeface="Arial"/>
                <a:ea typeface="Arial"/>
                <a:cs typeface="Arial"/>
              </a:defRPr>
            </a:pPr>
            <a:r>
              <a:rPr sz="2100" b="0">
                <a:solidFill>
                  <a:srgbClr val="17202B"/>
                </a:solidFill>
                <a:latin typeface="Arial"/>
                <a:ea typeface="Arial"/>
                <a:cs typeface="Arial"/>
              </a:rPr>
              <a:t>backend tests passed</a:t>
            </a:r>
          </a:p>
        </p:txBody>
      </p:sp>
      <p:sp>
        <p:nvSpPr>
          <p:cNvPr id="6" name="">
            <a:extLst xmlns:a="http://schemas.openxmlformats.org/drawingml/2006/main">
              <a:ext uri="{FF2B5EF4-FFF2-40B4-BE49-F238E27FC236}">
                <a16:creationId xmlns:a16="http://schemas.microsoft.com/office/drawing/2014/main" id="{8EC8BD5D-E629-4104-8595-E28EFD12849D}"/>
              </a:ext>
            </a:extLst>
          </p:cNvPr>
          <p:cNvSpPr>
            <a:spLocks xmlns:a="http://schemas.openxmlformats.org/drawingml/2006/main" noGrp="1"/>
          </p:cNvSpPr>
          <p:nvPr/>
        </p:nvSpPr>
        <p:spPr>
          <a:xfrm xmlns:a="http://schemas.openxmlformats.org/drawingml/2006/main">
            <a:off x="6381750" y="1666875"/>
            <a:ext cx="409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06EDB"/>
                </a:solidFill>
                <a:latin typeface="Arial"/>
                <a:ea typeface="Arial"/>
                <a:cs typeface="Arial"/>
              </a:defRPr>
            </a:defPPr>
            <a:lvl1pPr>
              <a:defRPr sz="5700" b="1">
                <a:solidFill>
                  <a:srgbClr val="006EDB"/>
                </a:solidFill>
                <a:latin typeface="Arial"/>
                <a:ea typeface="Arial"/>
                <a:cs typeface="Arial"/>
              </a:defRPr>
            </a:lvl1pPr>
            <a:lvl2pPr>
              <a:defRPr sz="5700" b="1">
                <a:solidFill>
                  <a:srgbClr val="006EDB"/>
                </a:solidFill>
                <a:latin typeface="Arial"/>
                <a:ea typeface="Arial"/>
                <a:cs typeface="Arial"/>
              </a:defRPr>
            </a:lvl2pPr>
            <a:lvl3pPr>
              <a:defRPr sz="5700" b="1">
                <a:solidFill>
                  <a:srgbClr val="006EDB"/>
                </a:solidFill>
                <a:latin typeface="Arial"/>
                <a:ea typeface="Arial"/>
                <a:cs typeface="Arial"/>
              </a:defRPr>
            </a:lvl3pPr>
            <a:lvl4pPr>
              <a:defRPr sz="5700" b="1">
                <a:solidFill>
                  <a:srgbClr val="006EDB"/>
                </a:solidFill>
                <a:latin typeface="Arial"/>
                <a:ea typeface="Arial"/>
                <a:cs typeface="Arial"/>
              </a:defRPr>
            </a:lvl4pPr>
            <a:lvl5pPr>
              <a:defRPr sz="5700" b="1">
                <a:solidFill>
                  <a:srgbClr val="006EDB"/>
                </a:solidFill>
                <a:latin typeface="Arial"/>
                <a:ea typeface="Arial"/>
                <a:cs typeface="Arial"/>
              </a:defRPr>
            </a:lvl5pPr>
            <a:lvl6pPr>
              <a:defRPr sz="5700" b="1">
                <a:solidFill>
                  <a:srgbClr val="006EDB"/>
                </a:solidFill>
                <a:latin typeface="Arial"/>
                <a:ea typeface="Arial"/>
                <a:cs typeface="Arial"/>
              </a:defRPr>
            </a:lvl6pPr>
            <a:lvl7pPr>
              <a:defRPr sz="5700" b="1">
                <a:solidFill>
                  <a:srgbClr val="006EDB"/>
                </a:solidFill>
                <a:latin typeface="Arial"/>
                <a:ea typeface="Arial"/>
                <a:cs typeface="Arial"/>
              </a:defRPr>
            </a:lvl7pPr>
            <a:lvl8pPr>
              <a:defRPr sz="5700" b="1">
                <a:solidFill>
                  <a:srgbClr val="006EDB"/>
                </a:solidFill>
                <a:latin typeface="Arial"/>
                <a:ea typeface="Arial"/>
                <a:cs typeface="Arial"/>
              </a:defRPr>
            </a:lvl8pPr>
            <a:lvl9pPr>
              <a:defRPr sz="5700" b="1">
                <a:solidFill>
                  <a:srgbClr val="006EDB"/>
                </a:solidFill>
                <a:latin typeface="Arial"/>
                <a:ea typeface="Arial"/>
                <a:cs typeface="Arial"/>
              </a:defRPr>
            </a:lvl9pPr>
          </a:lstStyle>
          <a:p xmlns:a="http://schemas.openxmlformats.org/drawingml/2006/main">
            <a:pPr>
              <a:defRPr sz="5700" b="1">
                <a:solidFill>
                  <a:srgbClr val="006EDB"/>
                </a:solidFill>
                <a:latin typeface="Arial"/>
                <a:ea typeface="Arial"/>
                <a:cs typeface="Arial"/>
              </a:defRPr>
            </a:pPr>
            <a:r>
              <a:rPr sz="5700" b="1">
                <a:solidFill>
                  <a:srgbClr val="006EDB"/>
                </a:solidFill>
                <a:latin typeface="Arial"/>
                <a:ea typeface="Arial"/>
                <a:cs typeface="Arial"/>
              </a:rPr>
              <a:t>61</a:t>
            </a:r>
          </a:p>
        </p:txBody>
      </p:sp>
      <p:sp>
        <p:nvSpPr>
          <p:cNvPr id="7" name="">
            <a:extLst xmlns:a="http://schemas.openxmlformats.org/drawingml/2006/main">
              <a:ext uri="{FF2B5EF4-FFF2-40B4-BE49-F238E27FC236}">
                <a16:creationId xmlns:a16="http://schemas.microsoft.com/office/drawing/2014/main" id="{23709D4F-E055-4FF7-90AF-41384CDB1724}"/>
              </a:ext>
            </a:extLst>
          </p:cNvPr>
          <p:cNvSpPr>
            <a:spLocks xmlns:a="http://schemas.openxmlformats.org/drawingml/2006/main" noGrp="1"/>
          </p:cNvSpPr>
          <p:nvPr/>
        </p:nvSpPr>
        <p:spPr>
          <a:xfrm xmlns:a="http://schemas.openxmlformats.org/drawingml/2006/main">
            <a:off x="6381750" y="27146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02B"/>
                </a:solidFill>
                <a:latin typeface="Arial"/>
                <a:ea typeface="Arial"/>
                <a:cs typeface="Arial"/>
              </a:defRPr>
            </a:defPPr>
            <a:lvl1pPr>
              <a:defRPr sz="2100" b="0">
                <a:solidFill>
                  <a:srgbClr val="17202B"/>
                </a:solidFill>
                <a:latin typeface="Arial"/>
                <a:ea typeface="Arial"/>
                <a:cs typeface="Arial"/>
              </a:defRPr>
            </a:lvl1pPr>
            <a:lvl2pPr>
              <a:defRPr sz="2100" b="0">
                <a:solidFill>
                  <a:srgbClr val="17202B"/>
                </a:solidFill>
                <a:latin typeface="Arial"/>
                <a:ea typeface="Arial"/>
                <a:cs typeface="Arial"/>
              </a:defRPr>
            </a:lvl2pPr>
            <a:lvl3pPr>
              <a:defRPr sz="2100" b="0">
                <a:solidFill>
                  <a:srgbClr val="17202B"/>
                </a:solidFill>
                <a:latin typeface="Arial"/>
                <a:ea typeface="Arial"/>
                <a:cs typeface="Arial"/>
              </a:defRPr>
            </a:lvl3pPr>
            <a:lvl4pPr>
              <a:defRPr sz="2100" b="0">
                <a:solidFill>
                  <a:srgbClr val="17202B"/>
                </a:solidFill>
                <a:latin typeface="Arial"/>
                <a:ea typeface="Arial"/>
                <a:cs typeface="Arial"/>
              </a:defRPr>
            </a:lvl4pPr>
            <a:lvl5pPr>
              <a:defRPr sz="2100" b="0">
                <a:solidFill>
                  <a:srgbClr val="17202B"/>
                </a:solidFill>
                <a:latin typeface="Arial"/>
                <a:ea typeface="Arial"/>
                <a:cs typeface="Arial"/>
              </a:defRPr>
            </a:lvl5pPr>
            <a:lvl6pPr>
              <a:defRPr sz="2100" b="0">
                <a:solidFill>
                  <a:srgbClr val="17202B"/>
                </a:solidFill>
                <a:latin typeface="Arial"/>
                <a:ea typeface="Arial"/>
                <a:cs typeface="Arial"/>
              </a:defRPr>
            </a:lvl6pPr>
            <a:lvl7pPr>
              <a:defRPr sz="2100" b="0">
                <a:solidFill>
                  <a:srgbClr val="17202B"/>
                </a:solidFill>
                <a:latin typeface="Arial"/>
                <a:ea typeface="Arial"/>
                <a:cs typeface="Arial"/>
              </a:defRPr>
            </a:lvl7pPr>
            <a:lvl8pPr>
              <a:defRPr sz="2100" b="0">
                <a:solidFill>
                  <a:srgbClr val="17202B"/>
                </a:solidFill>
                <a:latin typeface="Arial"/>
                <a:ea typeface="Arial"/>
                <a:cs typeface="Arial"/>
              </a:defRPr>
            </a:lvl8pPr>
            <a:lvl9pPr>
              <a:defRPr sz="2100" b="0">
                <a:solidFill>
                  <a:srgbClr val="17202B"/>
                </a:solidFill>
                <a:latin typeface="Arial"/>
                <a:ea typeface="Arial"/>
                <a:cs typeface="Arial"/>
              </a:defRPr>
            </a:lvl9pPr>
          </a:lstStyle>
          <a:p xmlns:a="http://schemas.openxmlformats.org/drawingml/2006/main">
            <a:pPr>
              <a:defRPr sz="2100" b="0">
                <a:solidFill>
                  <a:srgbClr val="17202B"/>
                </a:solidFill>
                <a:latin typeface="Arial"/>
                <a:ea typeface="Arial"/>
                <a:cs typeface="Arial"/>
              </a:defRPr>
            </a:pPr>
            <a:r>
              <a:rPr sz="2100" b="0">
                <a:solidFill>
                  <a:srgbClr val="17202B"/>
                </a:solidFill>
                <a:latin typeface="Arial"/>
                <a:ea typeface="Arial"/>
                <a:cs typeface="Arial"/>
              </a:rPr>
              <a:t>frontend tests passed</a:t>
            </a:r>
          </a:p>
        </p:txBody>
      </p:sp>
      <p:sp>
        <p:nvSpPr>
          <p:cNvPr id="8" name="">
            <a:extLst xmlns:a="http://schemas.openxmlformats.org/drawingml/2006/main">
              <a:ext uri="{FF2B5EF4-FFF2-40B4-BE49-F238E27FC236}">
                <a16:creationId xmlns:a16="http://schemas.microsoft.com/office/drawing/2014/main" id="{2C5545AE-374D-4BFF-96C8-1FAE724CA9A9}"/>
              </a:ext>
            </a:extLst>
          </p:cNvPr>
          <p:cNvSpPr>
            <a:spLocks xmlns:a="http://schemas.openxmlformats.org/drawingml/2006/main" noGrp="1"/>
          </p:cNvSpPr>
          <p:nvPr/>
        </p:nvSpPr>
        <p:spPr>
          <a:xfrm xmlns:a="http://schemas.openxmlformats.org/drawingml/2006/main">
            <a:off x="609600" y="3857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02B"/>
                </a:solidFill>
                <a:latin typeface="Arial"/>
                <a:ea typeface="Arial"/>
                <a:cs typeface="Arial"/>
              </a:defRPr>
            </a:defPPr>
            <a:lvl1pPr>
              <a:defRPr sz="2400" b="1">
                <a:solidFill>
                  <a:srgbClr val="17202B"/>
                </a:solidFill>
                <a:latin typeface="Arial"/>
                <a:ea typeface="Arial"/>
                <a:cs typeface="Arial"/>
              </a:defRPr>
            </a:lvl1pPr>
            <a:lvl2pPr>
              <a:defRPr sz="2400" b="1">
                <a:solidFill>
                  <a:srgbClr val="17202B"/>
                </a:solidFill>
                <a:latin typeface="Arial"/>
                <a:ea typeface="Arial"/>
                <a:cs typeface="Arial"/>
              </a:defRPr>
            </a:lvl2pPr>
            <a:lvl3pPr>
              <a:defRPr sz="2400" b="1">
                <a:solidFill>
                  <a:srgbClr val="17202B"/>
                </a:solidFill>
                <a:latin typeface="Arial"/>
                <a:ea typeface="Arial"/>
                <a:cs typeface="Arial"/>
              </a:defRPr>
            </a:lvl3pPr>
            <a:lvl4pPr>
              <a:defRPr sz="2400" b="1">
                <a:solidFill>
                  <a:srgbClr val="17202B"/>
                </a:solidFill>
                <a:latin typeface="Arial"/>
                <a:ea typeface="Arial"/>
                <a:cs typeface="Arial"/>
              </a:defRPr>
            </a:lvl4pPr>
            <a:lvl5pPr>
              <a:defRPr sz="2400" b="1">
                <a:solidFill>
                  <a:srgbClr val="17202B"/>
                </a:solidFill>
                <a:latin typeface="Arial"/>
                <a:ea typeface="Arial"/>
                <a:cs typeface="Arial"/>
              </a:defRPr>
            </a:lvl5pPr>
            <a:lvl6pPr>
              <a:defRPr sz="2400" b="1">
                <a:solidFill>
                  <a:srgbClr val="17202B"/>
                </a:solidFill>
                <a:latin typeface="Arial"/>
                <a:ea typeface="Arial"/>
                <a:cs typeface="Arial"/>
              </a:defRPr>
            </a:lvl6pPr>
            <a:lvl7pPr>
              <a:defRPr sz="2400" b="1">
                <a:solidFill>
                  <a:srgbClr val="17202B"/>
                </a:solidFill>
                <a:latin typeface="Arial"/>
                <a:ea typeface="Arial"/>
                <a:cs typeface="Arial"/>
              </a:defRPr>
            </a:lvl7pPr>
            <a:lvl8pPr>
              <a:defRPr sz="2400" b="1">
                <a:solidFill>
                  <a:srgbClr val="17202B"/>
                </a:solidFill>
                <a:latin typeface="Arial"/>
                <a:ea typeface="Arial"/>
                <a:cs typeface="Arial"/>
              </a:defRPr>
            </a:lvl8pPr>
            <a:lvl9pPr>
              <a:defRPr sz="2400" b="1">
                <a:solidFill>
                  <a:srgbClr val="17202B"/>
                </a:solidFill>
                <a:latin typeface="Arial"/>
                <a:ea typeface="Arial"/>
                <a:cs typeface="Arial"/>
              </a:defRPr>
            </a:lvl9pPr>
          </a:lstStyle>
          <a:p xmlns:a="http://schemas.openxmlformats.org/drawingml/2006/main">
            <a:pPr>
              <a:defRPr sz="2400" b="1">
                <a:solidFill>
                  <a:srgbClr val="17202B"/>
                </a:solidFill>
                <a:latin typeface="Arial"/>
                <a:ea typeface="Arial"/>
                <a:cs typeface="Arial"/>
              </a:defRPr>
            </a:pPr>
            <a:r>
              <a:rPr sz="2400" b="1">
                <a:solidFill>
                  <a:srgbClr val="17202B"/>
                </a:solidFill>
                <a:latin typeface="Arial"/>
                <a:ea typeface="Arial"/>
                <a:cs typeface="Arial"/>
              </a:rPr>
              <a:t>Production build and migration checks passed.</a:t>
            </a:r>
          </a:p>
        </p:txBody>
      </p:sp>
      <p:sp>
        <p:nvSpPr>
          <p:cNvPr id="9" name="">
            <a:extLst xmlns:a="http://schemas.openxmlformats.org/drawingml/2006/main">
              <a:ext uri="{FF2B5EF4-FFF2-40B4-BE49-F238E27FC236}">
                <a16:creationId xmlns:a16="http://schemas.microsoft.com/office/drawing/2014/main" id="{C6DAAA39-AA78-4C6C-BF9F-77AA0BADEBB0}"/>
              </a:ext>
            </a:extLst>
          </p:cNvPr>
          <p:cNvSpPr>
            <a:spLocks xmlns:a="http://schemas.openxmlformats.org/drawingml/2006/main" noGrp="1"/>
          </p:cNvSpPr>
          <p:nvPr/>
        </p:nvSpPr>
        <p:spPr>
          <a:xfrm xmlns:a="http://schemas.openxmlformats.org/drawingml/2006/main">
            <a:off x="609600" y="485775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96574"/>
                </a:solidFill>
                <a:latin typeface="Arial"/>
                <a:ea typeface="Arial"/>
                <a:cs typeface="Arial"/>
              </a:defRPr>
            </a:defPPr>
            <a:lvl1pPr>
              <a:defRPr sz="2025" b="0">
                <a:solidFill>
                  <a:srgbClr val="596574"/>
                </a:solidFill>
                <a:latin typeface="Arial"/>
                <a:ea typeface="Arial"/>
                <a:cs typeface="Arial"/>
              </a:defRPr>
            </a:lvl1pPr>
            <a:lvl2pPr>
              <a:defRPr sz="2025" b="0">
                <a:solidFill>
                  <a:srgbClr val="596574"/>
                </a:solidFill>
                <a:latin typeface="Arial"/>
                <a:ea typeface="Arial"/>
                <a:cs typeface="Arial"/>
              </a:defRPr>
            </a:lvl2pPr>
            <a:lvl3pPr>
              <a:defRPr sz="2025" b="0">
                <a:solidFill>
                  <a:srgbClr val="596574"/>
                </a:solidFill>
                <a:latin typeface="Arial"/>
                <a:ea typeface="Arial"/>
                <a:cs typeface="Arial"/>
              </a:defRPr>
            </a:lvl3pPr>
            <a:lvl4pPr>
              <a:defRPr sz="2025" b="0">
                <a:solidFill>
                  <a:srgbClr val="596574"/>
                </a:solidFill>
                <a:latin typeface="Arial"/>
                <a:ea typeface="Arial"/>
                <a:cs typeface="Arial"/>
              </a:defRPr>
            </a:lvl4pPr>
            <a:lvl5pPr>
              <a:defRPr sz="2025" b="0">
                <a:solidFill>
                  <a:srgbClr val="596574"/>
                </a:solidFill>
                <a:latin typeface="Arial"/>
                <a:ea typeface="Arial"/>
                <a:cs typeface="Arial"/>
              </a:defRPr>
            </a:lvl5pPr>
            <a:lvl6pPr>
              <a:defRPr sz="2025" b="0">
                <a:solidFill>
                  <a:srgbClr val="596574"/>
                </a:solidFill>
                <a:latin typeface="Arial"/>
                <a:ea typeface="Arial"/>
                <a:cs typeface="Arial"/>
              </a:defRPr>
            </a:lvl6pPr>
            <a:lvl7pPr>
              <a:defRPr sz="2025" b="0">
                <a:solidFill>
                  <a:srgbClr val="596574"/>
                </a:solidFill>
                <a:latin typeface="Arial"/>
                <a:ea typeface="Arial"/>
                <a:cs typeface="Arial"/>
              </a:defRPr>
            </a:lvl7pPr>
            <a:lvl8pPr>
              <a:defRPr sz="2025" b="0">
                <a:solidFill>
                  <a:srgbClr val="596574"/>
                </a:solidFill>
                <a:latin typeface="Arial"/>
                <a:ea typeface="Arial"/>
                <a:cs typeface="Arial"/>
              </a:defRPr>
            </a:lvl8pPr>
            <a:lvl9pPr>
              <a:defRPr sz="2025" b="0">
                <a:solidFill>
                  <a:srgbClr val="596574"/>
                </a:solidFill>
                <a:latin typeface="Arial"/>
                <a:ea typeface="Arial"/>
                <a:cs typeface="Arial"/>
              </a:defRPr>
            </a:lvl9pPr>
          </a:lstStyle>
          <a:p xmlns:a="http://schemas.openxmlformats.org/drawingml/2006/main">
            <a:pPr>
              <a:defRPr sz="2025" b="0">
                <a:solidFill>
                  <a:srgbClr val="596574"/>
                </a:solidFill>
                <a:latin typeface="Arial"/>
                <a:ea typeface="Arial"/>
                <a:cs typeface="Arial"/>
              </a:defRPr>
            </a:pPr>
            <a:r>
              <a:rPr sz="2025" b="0">
                <a:solidFill>
                  <a:srgbClr val="596574"/>
                </a:solidFill>
                <a:latin typeface="Arial"/>
                <a:ea typeface="Arial"/>
                <a:cs typeface="Arial"/>
              </a:rPr>
              <a:t>Current limits: local SQLite, read-only Gantt, no live co-editing.</a:t>
            </a:r>
          </a:p>
          <a:p xmlns:a="http://schemas.openxmlformats.org/drawingml/2006/main">
            <a:pPr>
              <a:defRPr sz="2025" b="0">
                <a:solidFill>
                  <a:srgbClr val="596574"/>
                </a:solidFill>
                <a:latin typeface="Arial"/>
                <a:ea typeface="Arial"/>
                <a:cs typeface="Arial"/>
              </a:defRPr>
            </a:pPr>
            <a:r>
              <a:rPr sz="2025" b="0">
                <a:solidFill>
                  <a:srgbClr val="596574"/>
                </a:solidFill>
                <a:latin typeface="Arial"/>
                <a:ea typeface="Arial"/>
                <a:cs typeface="Arial"/>
              </a:rPr>
              <a:t>No human user study or production deployment validation yet.</a:t>
            </a:r>
          </a:p>
        </p:txBody>
      </p:sp>
    </p:spTree>
    <p:extLst>
      <p:ext uri="{BB962C8B-B14F-4D97-AF65-F5344CB8AC3E}">
        <p14:creationId xmlns:p14="http://schemas.microsoft.com/office/powerpoint/2010/main" val="2063039814"/>
      </p:ext>
    </p:extLst>
  </p:cSld>
</p:sld>
</file>

<file path=ppt/slides/slide14.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023F909-492D-409C-B70C-AC6BCBE6E853}"/>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ProjectPulse in use</a:t>
            </a:r>
          </a:p>
        </p:txBody>
      </p:sp>
      <p:sp>
        <p:nvSpPr>
          <p:cNvPr id="3" name="">
            <a:extLst xmlns:a="http://schemas.openxmlformats.org/drawingml/2006/main">
              <a:ext uri="{FF2B5EF4-FFF2-40B4-BE49-F238E27FC236}">
                <a16:creationId xmlns:a16="http://schemas.microsoft.com/office/drawing/2014/main" id="{08DB0D53-0B46-4A3B-A980-C4F8D9F4870C}"/>
              </a:ext>
            </a:extLst>
          </p:cNvPr>
          <p:cNvSpPr>
            <a:spLocks xmlns:a="http://schemas.openxmlformats.org/drawingml/2006/main" noGrp="1"/>
          </p:cNvSpPr>
          <p:nvPr/>
        </p:nvSpPr>
        <p:spPr>
          <a:xfrm xmlns:a="http://schemas.openxmlformats.org/drawingml/2006/main">
            <a:off x="111442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FC9D6"/>
                </a:solidFill>
                <a:latin typeface="Arial"/>
                <a:ea typeface="Arial"/>
                <a:cs typeface="Arial"/>
              </a:defRPr>
            </a:defPPr>
            <a:lvl1pPr>
              <a:defRPr sz="1200" b="0">
                <a:solidFill>
                  <a:srgbClr val="BFC9D6"/>
                </a:solidFill>
                <a:latin typeface="Arial"/>
                <a:ea typeface="Arial"/>
                <a:cs typeface="Arial"/>
              </a:defRPr>
            </a:lvl1pPr>
            <a:lvl2pPr>
              <a:defRPr sz="1200" b="0">
                <a:solidFill>
                  <a:srgbClr val="BFC9D6"/>
                </a:solidFill>
                <a:latin typeface="Arial"/>
                <a:ea typeface="Arial"/>
                <a:cs typeface="Arial"/>
              </a:defRPr>
            </a:lvl2pPr>
            <a:lvl3pPr>
              <a:defRPr sz="1200" b="0">
                <a:solidFill>
                  <a:srgbClr val="BFC9D6"/>
                </a:solidFill>
                <a:latin typeface="Arial"/>
                <a:ea typeface="Arial"/>
                <a:cs typeface="Arial"/>
              </a:defRPr>
            </a:lvl3pPr>
            <a:lvl4pPr>
              <a:defRPr sz="1200" b="0">
                <a:solidFill>
                  <a:srgbClr val="BFC9D6"/>
                </a:solidFill>
                <a:latin typeface="Arial"/>
                <a:ea typeface="Arial"/>
                <a:cs typeface="Arial"/>
              </a:defRPr>
            </a:lvl4pPr>
            <a:lvl5pPr>
              <a:defRPr sz="1200" b="0">
                <a:solidFill>
                  <a:srgbClr val="BFC9D6"/>
                </a:solidFill>
                <a:latin typeface="Arial"/>
                <a:ea typeface="Arial"/>
                <a:cs typeface="Arial"/>
              </a:defRPr>
            </a:lvl5pPr>
            <a:lvl6pPr>
              <a:defRPr sz="1200" b="0">
                <a:solidFill>
                  <a:srgbClr val="BFC9D6"/>
                </a:solidFill>
                <a:latin typeface="Arial"/>
                <a:ea typeface="Arial"/>
                <a:cs typeface="Arial"/>
              </a:defRPr>
            </a:lvl6pPr>
            <a:lvl7pPr>
              <a:defRPr sz="1200" b="0">
                <a:solidFill>
                  <a:srgbClr val="BFC9D6"/>
                </a:solidFill>
                <a:latin typeface="Arial"/>
                <a:ea typeface="Arial"/>
                <a:cs typeface="Arial"/>
              </a:defRPr>
            </a:lvl7pPr>
            <a:lvl8pPr>
              <a:defRPr sz="1200" b="0">
                <a:solidFill>
                  <a:srgbClr val="BFC9D6"/>
                </a:solidFill>
                <a:latin typeface="Arial"/>
                <a:ea typeface="Arial"/>
                <a:cs typeface="Arial"/>
              </a:defRPr>
            </a:lvl8pPr>
            <a:lvl9pPr>
              <a:defRPr sz="1200" b="0">
                <a:solidFill>
                  <a:srgbClr val="BFC9D6"/>
                </a:solidFill>
                <a:latin typeface="Arial"/>
                <a:ea typeface="Arial"/>
                <a:cs typeface="Arial"/>
              </a:defRPr>
            </a:lvl9pPr>
          </a:lstStyle>
          <a:p xmlns:a="http://schemas.openxmlformats.org/drawingml/2006/main">
            <a:pPr>
              <a:defRPr sz="1200" b="0">
                <a:solidFill>
                  <a:srgbClr val="BFC9D6"/>
                </a:solidFill>
                <a:latin typeface="Arial"/>
                <a:ea typeface="Arial"/>
                <a:cs typeface="Arial"/>
              </a:defRPr>
            </a:pPr>
            <a:r>
              <a:rPr sz="1200" b="0">
                <a:solidFill>
                  <a:srgbClr val="BFC9D6"/>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7F39D87B-5D52-473B-BD07-385261CC7AEE}"/>
              </a:ext>
            </a:extLst>
          </p:cNvPr>
          <p:cNvSpPr>
            <a:spLocks xmlns:a="http://schemas.openxmlformats.org/drawingml/2006/main" noGrp="1"/>
          </p:cNvSpPr>
          <p:nvPr/>
        </p:nvSpPr>
        <p:spPr>
          <a:xfrm xmlns:a="http://schemas.openxmlformats.org/drawingml/2006/main">
            <a:off x="609600" y="1762125"/>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025" b="1">
                <a:solidFill>
                  <a:srgbClr val="FFFFFF"/>
                </a:solidFill>
                <a:latin typeface="Arial"/>
                <a:ea typeface="Arial"/>
                <a:cs typeface="Arial"/>
              </a:defRPr>
            </a:defPPr>
            <a:lvl1pPr>
              <a:defRPr sz="5025" b="1">
                <a:solidFill>
                  <a:srgbClr val="FFFFFF"/>
                </a:solidFill>
                <a:latin typeface="Arial"/>
                <a:ea typeface="Arial"/>
                <a:cs typeface="Arial"/>
              </a:defRPr>
            </a:lvl1pPr>
            <a:lvl2pPr>
              <a:defRPr sz="5025" b="1">
                <a:solidFill>
                  <a:srgbClr val="FFFFFF"/>
                </a:solidFill>
                <a:latin typeface="Arial"/>
                <a:ea typeface="Arial"/>
                <a:cs typeface="Arial"/>
              </a:defRPr>
            </a:lvl2pPr>
            <a:lvl3pPr>
              <a:defRPr sz="5025" b="1">
                <a:solidFill>
                  <a:srgbClr val="FFFFFF"/>
                </a:solidFill>
                <a:latin typeface="Arial"/>
                <a:ea typeface="Arial"/>
                <a:cs typeface="Arial"/>
              </a:defRPr>
            </a:lvl3pPr>
            <a:lvl4pPr>
              <a:defRPr sz="5025" b="1">
                <a:solidFill>
                  <a:srgbClr val="FFFFFF"/>
                </a:solidFill>
                <a:latin typeface="Arial"/>
                <a:ea typeface="Arial"/>
                <a:cs typeface="Arial"/>
              </a:defRPr>
            </a:lvl4pPr>
            <a:lvl5pPr>
              <a:defRPr sz="5025" b="1">
                <a:solidFill>
                  <a:srgbClr val="FFFFFF"/>
                </a:solidFill>
                <a:latin typeface="Arial"/>
                <a:ea typeface="Arial"/>
                <a:cs typeface="Arial"/>
              </a:defRPr>
            </a:lvl5pPr>
            <a:lvl6pPr>
              <a:defRPr sz="5025" b="1">
                <a:solidFill>
                  <a:srgbClr val="FFFFFF"/>
                </a:solidFill>
                <a:latin typeface="Arial"/>
                <a:ea typeface="Arial"/>
                <a:cs typeface="Arial"/>
              </a:defRPr>
            </a:lvl6pPr>
            <a:lvl7pPr>
              <a:defRPr sz="5025" b="1">
                <a:solidFill>
                  <a:srgbClr val="FFFFFF"/>
                </a:solidFill>
                <a:latin typeface="Arial"/>
                <a:ea typeface="Arial"/>
                <a:cs typeface="Arial"/>
              </a:defRPr>
            </a:lvl7pPr>
            <a:lvl8pPr>
              <a:defRPr sz="5025" b="1">
                <a:solidFill>
                  <a:srgbClr val="FFFFFF"/>
                </a:solidFill>
                <a:latin typeface="Arial"/>
                <a:ea typeface="Arial"/>
                <a:cs typeface="Arial"/>
              </a:defRPr>
            </a:lvl8pPr>
            <a:lvl9pPr>
              <a:defRPr sz="5025" b="1">
                <a:solidFill>
                  <a:srgbClr val="FFFFFF"/>
                </a:solidFill>
                <a:latin typeface="Arial"/>
                <a:ea typeface="Arial"/>
                <a:cs typeface="Arial"/>
              </a:defRPr>
            </a:lvl9pPr>
          </a:lstStyle>
          <a:p xmlns:a="http://schemas.openxmlformats.org/drawingml/2006/main">
            <a:pPr>
              <a:defRPr sz="5025" b="1">
                <a:solidFill>
                  <a:srgbClr val="FFFFFF"/>
                </a:solidFill>
                <a:latin typeface="Arial"/>
                <a:ea typeface="Arial"/>
                <a:cs typeface="Arial"/>
              </a:defRPr>
            </a:pPr>
            <a:r>
              <a:rPr sz="5025" b="1">
                <a:solidFill>
                  <a:srgbClr val="FFFFFF"/>
                </a:solidFill>
                <a:latin typeface="Arial"/>
                <a:ea typeface="Arial"/>
                <a:cs typeface="Arial"/>
              </a:rPr>
              <a:t>A task plan with</a:t>
            </a:r>
          </a:p>
          <a:p xmlns:a="http://schemas.openxmlformats.org/drawingml/2006/main">
            <a:pPr>
              <a:defRPr sz="5025" b="1">
                <a:solidFill>
                  <a:srgbClr val="FFFFFF"/>
                </a:solidFill>
                <a:latin typeface="Arial"/>
                <a:ea typeface="Arial"/>
                <a:cs typeface="Arial"/>
              </a:defRPr>
            </a:pPr>
            <a:r>
              <a:rPr sz="5025" b="1">
                <a:solidFill>
                  <a:srgbClr val="FFFFFF"/>
                </a:solidFill>
                <a:latin typeface="Arial"/>
                <a:ea typeface="Arial"/>
                <a:cs typeface="Arial"/>
              </a:rPr>
              <a:t>visible progress</a:t>
            </a:r>
          </a:p>
        </p:txBody>
      </p:sp>
      <p:sp>
        <p:nvSpPr>
          <p:cNvPr id="5" name="">
            <a:extLst xmlns:a="http://schemas.openxmlformats.org/drawingml/2006/main">
              <a:ext uri="{FF2B5EF4-FFF2-40B4-BE49-F238E27FC236}">
                <a16:creationId xmlns:a16="http://schemas.microsoft.com/office/drawing/2014/main" id="{FB938DBC-BBCB-4111-90D9-C85133F41BA4}"/>
              </a:ext>
            </a:extLst>
          </p:cNvPr>
          <p:cNvSpPr>
            <a:spLocks xmlns:a="http://schemas.openxmlformats.org/drawingml/2006/main" noGrp="1"/>
          </p:cNvSpPr>
          <p:nvPr/>
        </p:nvSpPr>
        <p:spPr>
          <a:xfrm xmlns:a="http://schemas.openxmlformats.org/drawingml/2006/main">
            <a:off x="647700" y="4095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DCE6F3"/>
                </a:solidFill>
                <a:latin typeface="Arial"/>
                <a:ea typeface="Arial"/>
                <a:cs typeface="Arial"/>
              </a:defRPr>
            </a:defPPr>
            <a:lvl1pPr>
              <a:defRPr sz="2475" b="0">
                <a:solidFill>
                  <a:srgbClr val="DCE6F3"/>
                </a:solidFill>
                <a:latin typeface="Arial"/>
                <a:ea typeface="Arial"/>
                <a:cs typeface="Arial"/>
              </a:defRPr>
            </a:lvl1pPr>
            <a:lvl2pPr>
              <a:defRPr sz="2475" b="0">
                <a:solidFill>
                  <a:srgbClr val="DCE6F3"/>
                </a:solidFill>
                <a:latin typeface="Arial"/>
                <a:ea typeface="Arial"/>
                <a:cs typeface="Arial"/>
              </a:defRPr>
            </a:lvl2pPr>
            <a:lvl3pPr>
              <a:defRPr sz="2475" b="0">
                <a:solidFill>
                  <a:srgbClr val="DCE6F3"/>
                </a:solidFill>
                <a:latin typeface="Arial"/>
                <a:ea typeface="Arial"/>
                <a:cs typeface="Arial"/>
              </a:defRPr>
            </a:lvl3pPr>
            <a:lvl4pPr>
              <a:defRPr sz="2475" b="0">
                <a:solidFill>
                  <a:srgbClr val="DCE6F3"/>
                </a:solidFill>
                <a:latin typeface="Arial"/>
                <a:ea typeface="Arial"/>
                <a:cs typeface="Arial"/>
              </a:defRPr>
            </a:lvl4pPr>
            <a:lvl5pPr>
              <a:defRPr sz="2475" b="0">
                <a:solidFill>
                  <a:srgbClr val="DCE6F3"/>
                </a:solidFill>
                <a:latin typeface="Arial"/>
                <a:ea typeface="Arial"/>
                <a:cs typeface="Arial"/>
              </a:defRPr>
            </a:lvl5pPr>
            <a:lvl6pPr>
              <a:defRPr sz="2475" b="0">
                <a:solidFill>
                  <a:srgbClr val="DCE6F3"/>
                </a:solidFill>
                <a:latin typeface="Arial"/>
                <a:ea typeface="Arial"/>
                <a:cs typeface="Arial"/>
              </a:defRPr>
            </a:lvl6pPr>
            <a:lvl7pPr>
              <a:defRPr sz="2475" b="0">
                <a:solidFill>
                  <a:srgbClr val="DCE6F3"/>
                </a:solidFill>
                <a:latin typeface="Arial"/>
                <a:ea typeface="Arial"/>
                <a:cs typeface="Arial"/>
              </a:defRPr>
            </a:lvl7pPr>
            <a:lvl8pPr>
              <a:defRPr sz="2475" b="0">
                <a:solidFill>
                  <a:srgbClr val="DCE6F3"/>
                </a:solidFill>
                <a:latin typeface="Arial"/>
                <a:ea typeface="Arial"/>
                <a:cs typeface="Arial"/>
              </a:defRPr>
            </a:lvl8pPr>
            <a:lvl9pPr>
              <a:defRPr sz="2475" b="0">
                <a:solidFill>
                  <a:srgbClr val="DCE6F3"/>
                </a:solidFill>
                <a:latin typeface="Arial"/>
                <a:ea typeface="Arial"/>
                <a:cs typeface="Arial"/>
              </a:defRPr>
            </a:lvl9pPr>
          </a:lstStyle>
          <a:p xmlns:a="http://schemas.openxmlformats.org/drawingml/2006/main">
            <a:pPr>
              <a:defRPr sz="2475" b="0">
                <a:solidFill>
                  <a:srgbClr val="DCE6F3"/>
                </a:solidFill>
                <a:latin typeface="Arial"/>
                <a:ea typeface="Arial"/>
                <a:cs typeface="Arial"/>
              </a:defRPr>
            </a:pPr>
            <a:r>
              <a:rPr sz="2475" b="0">
                <a:solidFill>
                  <a:srgbClr val="DCE6F3"/>
                </a:solidFill>
                <a:latin typeface="Arial"/>
                <a:ea typeface="Arial"/>
                <a:cs typeface="Arial"/>
              </a:rPr>
              <a:t>The next step is a live walkthrough of the sample project.</a:t>
            </a:r>
          </a:p>
        </p:txBody>
      </p:sp>
      <p:sp>
        <p:nvSpPr>
          <p:cNvPr id="6" name="">
            <a:extLst xmlns:a="http://schemas.openxmlformats.org/drawingml/2006/main">
              <a:ext uri="{FF2B5EF4-FFF2-40B4-BE49-F238E27FC236}">
                <a16:creationId xmlns:a16="http://schemas.microsoft.com/office/drawing/2014/main" id="{F2A48F19-A349-4ED2-AAF1-8111D6512969}"/>
              </a:ext>
            </a:extLst>
          </p:cNvPr>
          <p:cNvSpPr>
            <a:spLocks xmlns:a="http://schemas.openxmlformats.org/drawingml/2006/main" noGrp="1"/>
          </p:cNvSpPr>
          <p:nvPr/>
        </p:nvSpPr>
        <p:spPr>
          <a:xfrm xmlns:a="http://schemas.openxmlformats.org/drawingml/2006/main">
            <a:off x="647700" y="5619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FC9D6"/>
                </a:solidFill>
                <a:latin typeface="Arial"/>
                <a:ea typeface="Arial"/>
                <a:cs typeface="Arial"/>
              </a:defRPr>
            </a:defPPr>
            <a:lvl1pPr>
              <a:defRPr sz="2100" b="0">
                <a:solidFill>
                  <a:srgbClr val="BFC9D6"/>
                </a:solidFill>
                <a:latin typeface="Arial"/>
                <a:ea typeface="Arial"/>
                <a:cs typeface="Arial"/>
              </a:defRPr>
            </a:lvl1pPr>
            <a:lvl2pPr>
              <a:defRPr sz="2100" b="0">
                <a:solidFill>
                  <a:srgbClr val="BFC9D6"/>
                </a:solidFill>
                <a:latin typeface="Arial"/>
                <a:ea typeface="Arial"/>
                <a:cs typeface="Arial"/>
              </a:defRPr>
            </a:lvl2pPr>
            <a:lvl3pPr>
              <a:defRPr sz="2100" b="0">
                <a:solidFill>
                  <a:srgbClr val="BFC9D6"/>
                </a:solidFill>
                <a:latin typeface="Arial"/>
                <a:ea typeface="Arial"/>
                <a:cs typeface="Arial"/>
              </a:defRPr>
            </a:lvl3pPr>
            <a:lvl4pPr>
              <a:defRPr sz="2100" b="0">
                <a:solidFill>
                  <a:srgbClr val="BFC9D6"/>
                </a:solidFill>
                <a:latin typeface="Arial"/>
                <a:ea typeface="Arial"/>
                <a:cs typeface="Arial"/>
              </a:defRPr>
            </a:lvl4pPr>
            <a:lvl5pPr>
              <a:defRPr sz="2100" b="0">
                <a:solidFill>
                  <a:srgbClr val="BFC9D6"/>
                </a:solidFill>
                <a:latin typeface="Arial"/>
                <a:ea typeface="Arial"/>
                <a:cs typeface="Arial"/>
              </a:defRPr>
            </a:lvl5pPr>
            <a:lvl6pPr>
              <a:defRPr sz="2100" b="0">
                <a:solidFill>
                  <a:srgbClr val="BFC9D6"/>
                </a:solidFill>
                <a:latin typeface="Arial"/>
                <a:ea typeface="Arial"/>
                <a:cs typeface="Arial"/>
              </a:defRPr>
            </a:lvl6pPr>
            <a:lvl7pPr>
              <a:defRPr sz="2100" b="0">
                <a:solidFill>
                  <a:srgbClr val="BFC9D6"/>
                </a:solidFill>
                <a:latin typeface="Arial"/>
                <a:ea typeface="Arial"/>
                <a:cs typeface="Arial"/>
              </a:defRPr>
            </a:lvl7pPr>
            <a:lvl8pPr>
              <a:defRPr sz="2100" b="0">
                <a:solidFill>
                  <a:srgbClr val="BFC9D6"/>
                </a:solidFill>
                <a:latin typeface="Arial"/>
                <a:ea typeface="Arial"/>
                <a:cs typeface="Arial"/>
              </a:defRPr>
            </a:lvl8pPr>
            <a:lvl9pPr>
              <a:defRPr sz="2100" b="0">
                <a:solidFill>
                  <a:srgbClr val="BFC9D6"/>
                </a:solidFill>
                <a:latin typeface="Arial"/>
                <a:ea typeface="Arial"/>
                <a:cs typeface="Arial"/>
              </a:defRPr>
            </a:lvl9pPr>
          </a:lstStyle>
          <a:p xmlns:a="http://schemas.openxmlformats.org/drawingml/2006/main">
            <a:pPr>
              <a:defRPr sz="2100" b="0">
                <a:solidFill>
                  <a:srgbClr val="BFC9D6"/>
                </a:solidFill>
                <a:latin typeface="Arial"/>
                <a:ea typeface="Arial"/>
                <a:cs typeface="Arial"/>
              </a:defRPr>
            </a:pPr>
            <a:r>
              <a:rPr sz="2100" b="0">
                <a:solidFill>
                  <a:srgbClr val="BFC9D6"/>
                </a:solidFill>
                <a:latin typeface="Arial"/>
                <a:ea typeface="Arial"/>
                <a:cs typeface="Arial"/>
              </a:rPr>
              <a:t>Questions</a:t>
            </a:r>
          </a:p>
        </p:txBody>
      </p:sp>
    </p:spTree>
    <p:extLst>
      <p:ext uri="{BB962C8B-B14F-4D97-AF65-F5344CB8AC3E}">
        <p14:creationId xmlns:p14="http://schemas.microsoft.com/office/powerpoint/2010/main" val="9724880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2026-10-27T05:16:52.3850000Z</dcterms:created>
  <dcterms:modified xsi:type="dcterms:W3CDTF">2026-10-27T05:16:52.3850000Z</dcterms:modified>
</coreProperties>
</file>